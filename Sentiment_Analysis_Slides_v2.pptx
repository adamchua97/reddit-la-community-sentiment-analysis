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2.xml" ContentType="application/vnd.openxmlformats-officedocument.drawingml.chart+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7" r:id="rId6"/>
    <p:sldId id="266" r:id="rId7"/>
    <p:sldId id="260" r:id="rId8"/>
    <p:sldId id="261" r:id="rId9"/>
    <p:sldId id="262" r:id="rId10"/>
    <p:sldId id="263" r:id="rId11"/>
    <p:sldId id="268" r:id="rId12"/>
    <p:sldId id="264" r:id="rId13"/>
    <p:sldId id="265"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70777" autoAdjust="0"/>
  </p:normalViewPr>
  <p:slideViewPr>
    <p:cSldViewPr snapToGrid="0" snapToObjects="1">
      <p:cViewPr varScale="1">
        <p:scale>
          <a:sx n="109" d="100"/>
          <a:sy n="109" d="100"/>
        </p:scale>
        <p:origin x="126" y="17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Positive</c:v>
                </c:pt>
              </c:strCache>
            </c:strRef>
          </c:tx>
          <c:spPr>
            <a:solidFill>
              <a:srgbClr val="3B7A57"/>
            </a:solidFill>
            <a:effectLst/>
          </c:spPr>
          <c:invertIfNegative val="0"/>
          <c:dLbls>
            <c:numFmt formatCode="0.0&quot;%&quot;" sourceLinked="0"/>
            <c:spPr>
              <a:noFill/>
              <a:ln>
                <a:noFill/>
              </a:ln>
              <a:effectLst/>
            </c:spPr>
            <c:txPr>
              <a:bodyPr/>
              <a:lstStyle/>
              <a:p>
                <a:pPr>
                  <a:defRPr sz="1000" b="0" i="0" u="none" strike="noStrike">
                    <a:solidFill>
                      <a:srgbClr val="3D3D3D"/>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TextBlob</c:v>
                </c:pt>
                <c:pt idx="1">
                  <c:v>VADER</c:v>
                </c:pt>
                <c:pt idx="2">
                  <c:v>RoBERTa</c:v>
                </c:pt>
                <c:pt idx="3">
                  <c:v>BERT</c:v>
                </c:pt>
              </c:strCache>
            </c:strRef>
          </c:cat>
          <c:val>
            <c:numRef>
              <c:f>Sheet1!$B$2:$B$5</c:f>
              <c:numCache>
                <c:formatCode>General</c:formatCode>
                <c:ptCount val="4"/>
                <c:pt idx="0">
                  <c:v>42.8</c:v>
                </c:pt>
                <c:pt idx="1">
                  <c:v>42.3</c:v>
                </c:pt>
                <c:pt idx="2">
                  <c:v>13</c:v>
                </c:pt>
                <c:pt idx="3">
                  <c:v>29.3</c:v>
                </c:pt>
              </c:numCache>
            </c:numRef>
          </c:val>
          <c:extLst>
            <c:ext xmlns:c16="http://schemas.microsoft.com/office/drawing/2014/chart" uri="{C3380CC4-5D6E-409C-BE32-E72D297353CC}">
              <c16:uniqueId val="{00000000-62E6-4C78-93D5-D3B817E1EC00}"/>
            </c:ext>
          </c:extLst>
        </c:ser>
        <c:ser>
          <c:idx val="1"/>
          <c:order val="1"/>
          <c:tx>
            <c:strRef>
              <c:f>Sheet1!$C$1</c:f>
              <c:strCache>
                <c:ptCount val="1"/>
                <c:pt idx="0">
                  <c:v>Neutral</c:v>
                </c:pt>
              </c:strCache>
            </c:strRef>
          </c:tx>
          <c:spPr>
            <a:solidFill>
              <a:srgbClr val="9AA5AD"/>
            </a:solidFill>
            <a:effectLst/>
          </c:spPr>
          <c:invertIfNegative val="0"/>
          <c:dLbls>
            <c:numFmt formatCode="0.0&quot;%&quot;" sourceLinked="0"/>
            <c:spPr>
              <a:noFill/>
              <a:ln>
                <a:noFill/>
              </a:ln>
              <a:effectLst/>
            </c:spPr>
            <c:txPr>
              <a:bodyPr/>
              <a:lstStyle/>
              <a:p>
                <a:pPr>
                  <a:defRPr sz="1000" b="0" i="0" u="none" strike="noStrike">
                    <a:solidFill>
                      <a:srgbClr val="3D3D3D"/>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TextBlob</c:v>
                </c:pt>
                <c:pt idx="1">
                  <c:v>VADER</c:v>
                </c:pt>
                <c:pt idx="2">
                  <c:v>RoBERTa</c:v>
                </c:pt>
                <c:pt idx="3">
                  <c:v>BERT</c:v>
                </c:pt>
              </c:strCache>
            </c:strRef>
          </c:cat>
          <c:val>
            <c:numRef>
              <c:f>Sheet1!$C$2:$C$5</c:f>
              <c:numCache>
                <c:formatCode>General</c:formatCode>
                <c:ptCount val="4"/>
                <c:pt idx="0">
                  <c:v>34.5</c:v>
                </c:pt>
                <c:pt idx="1">
                  <c:v>22.7</c:v>
                </c:pt>
                <c:pt idx="2">
                  <c:v>34.9</c:v>
                </c:pt>
                <c:pt idx="3">
                  <c:v>8.1</c:v>
                </c:pt>
              </c:numCache>
            </c:numRef>
          </c:val>
          <c:extLst>
            <c:ext xmlns:c16="http://schemas.microsoft.com/office/drawing/2014/chart" uri="{C3380CC4-5D6E-409C-BE32-E72D297353CC}">
              <c16:uniqueId val="{00000001-62E6-4C78-93D5-D3B817E1EC00}"/>
            </c:ext>
          </c:extLst>
        </c:ser>
        <c:ser>
          <c:idx val="2"/>
          <c:order val="2"/>
          <c:tx>
            <c:strRef>
              <c:f>Sheet1!$D$1</c:f>
              <c:strCache>
                <c:ptCount val="1"/>
                <c:pt idx="0">
                  <c:v>Negative</c:v>
                </c:pt>
              </c:strCache>
            </c:strRef>
          </c:tx>
          <c:spPr>
            <a:solidFill>
              <a:srgbClr val="B23B3B"/>
            </a:solidFill>
            <a:effectLst/>
          </c:spPr>
          <c:invertIfNegative val="0"/>
          <c:dLbls>
            <c:numFmt formatCode="0.0&quot;%&quot;" sourceLinked="0"/>
            <c:spPr>
              <a:noFill/>
              <a:ln>
                <a:noFill/>
              </a:ln>
              <a:effectLst/>
            </c:spPr>
            <c:txPr>
              <a:bodyPr/>
              <a:lstStyle/>
              <a:p>
                <a:pPr>
                  <a:defRPr sz="1000" b="0" i="0" u="none" strike="noStrike">
                    <a:solidFill>
                      <a:srgbClr val="3D3D3D"/>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TextBlob</c:v>
                </c:pt>
                <c:pt idx="1">
                  <c:v>VADER</c:v>
                </c:pt>
                <c:pt idx="2">
                  <c:v>RoBERTa</c:v>
                </c:pt>
                <c:pt idx="3">
                  <c:v>BERT</c:v>
                </c:pt>
              </c:strCache>
            </c:strRef>
          </c:cat>
          <c:val>
            <c:numRef>
              <c:f>Sheet1!$D$2:$D$5</c:f>
              <c:numCache>
                <c:formatCode>General</c:formatCode>
                <c:ptCount val="4"/>
                <c:pt idx="0">
                  <c:v>22.7</c:v>
                </c:pt>
                <c:pt idx="1">
                  <c:v>35</c:v>
                </c:pt>
                <c:pt idx="2">
                  <c:v>52.1</c:v>
                </c:pt>
                <c:pt idx="3">
                  <c:v>62.6</c:v>
                </c:pt>
              </c:numCache>
            </c:numRef>
          </c:val>
          <c:extLst>
            <c:ext xmlns:c16="http://schemas.microsoft.com/office/drawing/2014/chart" uri="{C3380CC4-5D6E-409C-BE32-E72D297353CC}">
              <c16:uniqueId val="{00000002-62E6-4C78-93D5-D3B817E1EC00}"/>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D3D3D"/>
                </a:solidFill>
                <a:latin typeface="Arial"/>
              </a:defRPr>
            </a:pPr>
            <a:endParaRPr lang="en-US"/>
          </a:p>
        </c:txPr>
        <c:crossAx val="2094734552"/>
        <c:crosses val="autoZero"/>
        <c:auto val="1"/>
        <c:lblAlgn val="ctr"/>
        <c:lblOffset val="100"/>
        <c:noMultiLvlLbl val="1"/>
      </c:catAx>
      <c:valAx>
        <c:axId val="2094734552"/>
        <c:scaling>
          <c:orientation val="minMax"/>
          <c:max val="70"/>
        </c:scaling>
        <c:delete val="0"/>
        <c:axPos val="l"/>
        <c:majorGridlines>
          <c:spPr>
            <a:ln w="9525" cap="flat">
              <a:solidFill>
                <a:srgbClr val="E8E8E8"/>
              </a:solidFill>
              <a:prstDash val="solid"/>
              <a:round/>
            </a:ln>
          </c:spPr>
        </c:majorGridlines>
        <c:title>
          <c:tx>
            <c:rich>
              <a:bodyPr/>
              <a:lstStyle/>
              <a:p>
                <a:pPr>
                  <a:defRPr sz="1100" b="0" i="0" u="none" strike="noStrike">
                    <a:solidFill>
                      <a:srgbClr val="767676"/>
                    </a:solidFill>
                    <a:latin typeface="Arial"/>
                  </a:defRPr>
                </a:pPr>
                <a:r>
                  <a:rPr lang="en-US" sz="1100" b="0" i="0" u="none" strike="noStrike">
                    <a:solidFill>
                      <a:srgbClr val="767676"/>
                    </a:solidFill>
                    <a:latin typeface="Arial"/>
                  </a:rPr>
                  <a:t>% of comments</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767676"/>
                </a:solidFill>
                <a:latin typeface="Arial"/>
              </a:defRPr>
            </a:pPr>
            <a:endParaRPr lang="en-US"/>
          </a:p>
        </c:txPr>
        <c:crossAx val="2094734554"/>
        <c:crosses val="autoZero"/>
        <c:crossBetween val="between"/>
        <c:majorUnit val="10"/>
      </c:valAx>
      <c:spPr>
        <a:noFill/>
        <a:ln>
          <a:noFill/>
        </a:ln>
        <a:effectLst/>
      </c:spPr>
    </c:plotArea>
    <c:legend>
      <c:legendPos val="b"/>
      <c:overlay val="0"/>
      <c:txPr>
        <a:bodyPr/>
        <a:lstStyle/>
        <a:p>
          <a:pPr>
            <a:defRPr sz="1200">
              <a:solidFill>
                <a:srgbClr val="3D3D3D"/>
              </a:solidFill>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manualLayout>
          <c:layoutTarget val="inner"/>
          <c:xMode val="edge"/>
          <c:yMode val="edge"/>
          <c:x val="3.1640556649168851E-2"/>
          <c:y val="2.7777777777777776E-2"/>
          <c:w val="0.95311638779527563"/>
          <c:h val="0.88988981846019244"/>
        </c:manualLayout>
      </c:layout>
      <c:barChart>
        <c:barDir val="bar"/>
        <c:grouping val="clustered"/>
        <c:varyColors val="0"/>
        <c:ser>
          <c:idx val="0"/>
          <c:order val="0"/>
          <c:tx>
            <c:strRef>
              <c:f>Sheet1!$B$1</c:f>
              <c:strCache>
                <c:ptCount val="1"/>
                <c:pt idx="0">
                  <c:v>Net sentiment</c:v>
                </c:pt>
              </c:strCache>
            </c:strRef>
          </c:tx>
          <c:spPr>
            <a:solidFill>
              <a:schemeClr val="accent2">
                <a:lumMod val="50000"/>
              </a:schemeClr>
            </a:solidFill>
            <a:effectLst/>
          </c:spPr>
          <c:invertIfNegative val="0"/>
          <c:dLbls>
            <c:numFmt formatCode="0.0" sourceLinked="0"/>
            <c:spPr>
              <a:noFill/>
              <a:ln>
                <a:noFill/>
              </a:ln>
              <a:effectLst/>
            </c:spPr>
            <c:txPr>
              <a:bodyPr/>
              <a:lstStyle/>
              <a:p>
                <a:pPr>
                  <a:defRPr sz="1100" b="1" i="0" u="none" strike="noStrike">
                    <a:solidFill>
                      <a:srgbClr val="3D3D3D"/>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Politics and
Public Policy</c:v>
                </c:pt>
                <c:pt idx="1">
                  <c:v>Housing
Affordability</c:v>
                </c:pt>
                <c:pt idx="2">
                  <c:v>News Reactions
and Commentary</c:v>
                </c:pt>
                <c:pt idx="3">
                  <c:v>General
Discussions</c:v>
                </c:pt>
                <c:pt idx="4">
                  <c:v>Neighborhoods and
Living Conditions</c:v>
                </c:pt>
              </c:strCache>
            </c:strRef>
          </c:cat>
          <c:val>
            <c:numRef>
              <c:f>Sheet1!$B$2:$B$6</c:f>
              <c:numCache>
                <c:formatCode>General</c:formatCode>
                <c:ptCount val="5"/>
                <c:pt idx="0">
                  <c:v>-49.9</c:v>
                </c:pt>
                <c:pt idx="1">
                  <c:v>-47.6</c:v>
                </c:pt>
                <c:pt idx="2">
                  <c:v>-45.6</c:v>
                </c:pt>
                <c:pt idx="3">
                  <c:v>-30</c:v>
                </c:pt>
                <c:pt idx="4">
                  <c:v>-22.1</c:v>
                </c:pt>
              </c:numCache>
            </c:numRef>
          </c:val>
          <c:extLst>
            <c:ext xmlns:c16="http://schemas.microsoft.com/office/drawing/2014/chart" uri="{C3380CC4-5D6E-409C-BE32-E72D297353CC}">
              <c16:uniqueId val="{00000000-A5FC-4A77-95C3-052205010373}"/>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lgn="just">
              <a:defRPr sz="1000" b="1" i="1" u="none" strike="noStrike">
                <a:solidFill>
                  <a:schemeClr val="bg1"/>
                </a:solidFill>
                <a:latin typeface="Arial"/>
              </a:defRPr>
            </a:pPr>
            <a:endParaRPr lang="en-US"/>
          </a:p>
        </c:txPr>
        <c:crossAx val="2094734552"/>
        <c:crosses val="autoZero"/>
        <c:auto val="1"/>
        <c:lblAlgn val="ctr"/>
        <c:lblOffset val="100"/>
        <c:noMultiLvlLbl val="1"/>
      </c:catAx>
      <c:valAx>
        <c:axId val="2094734552"/>
        <c:scaling>
          <c:orientation val="minMax"/>
          <c:max val="0"/>
          <c:min val="-60"/>
        </c:scaling>
        <c:delete val="0"/>
        <c:axPos val="b"/>
        <c:majorGridlines>
          <c:spPr>
            <a:ln w="9525" cap="flat">
              <a:solidFill>
                <a:srgbClr val="E8E8E8"/>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767676"/>
                </a:solidFill>
                <a:latin typeface="Arial"/>
              </a:defRPr>
            </a:pPr>
            <a:endParaRPr lang="en-US"/>
          </a:p>
        </c:txPr>
        <c:crossAx val="2094734554"/>
        <c:crosses val="autoZero"/>
        <c:crossBetween val="between"/>
        <c:majorUnit val="10"/>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902743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PACE: fast, about 15 seconds.
Open on the problem. Four sentiment methods applied to the same half-million comments from r/LosAngeles, and depending which one you trust, anywhere from 23% to 63% of the community's comments are negative. That is not a rounding difference — the methods disagree about what kind of place this community is. Everything that follows is about resolving that.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PACE: fast. One line each — this is setup.
Two families that work differently. Lexicons look up words in a dictionary: fast and transparent, but no sense of context, so sarcasm and negation defeat them. Transformers are trained on labelled examples and read word order. We picked one social-media-trained model and one general-purpose model deliberately, so the benchmark could test whether domain matching helps.
IF ASKED about the text preparation: the standard cleaned text is lowercased with emoji stripped, which suits topic modelling but throws away what these methods use — VADER reads capitalisation as emphasis, transformers tokenise emoji as meaningful. Preserving both changed 5.08% of RoBERTa's labels, against 0.80% for VADER and 0.04% for TextBlob.
IF ASKED about thresholds: the ±0.05 cut-off is VADER's published convention. TextBlob has no equivalent, so we tested wider values — its neutral share nearly doubles across the range, meaning its distribution is substantially an artifact of an arbitrary cut-point.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PACE: HOLD. This is the problem slide — give it time.
The same half-million comments, scored four ways. The share labelled negative runs from 23% under TextBlob to 63% under BERT. A forty-point spread on identical text — the methods disagree about the basic character of the community, not about edge cases. All four agree on under a fifth of comments, and for nearly a quarter of them they produce every possible answer between them.
So the obvious question: which one is right? Nothing in these outputs can tell you, because the outputs are the thing being evaluated.
IF ASKED about coverage: all four methods ran on the complete corpus, all 498,147 comments. No sampling.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PACE: HOLD. Best diagnostic finding in the deck.
Part of the answer is a specific, measurable weakness in the lexicons. Both return exactly zero when they recognise none of the words in a comment. That is the method saying it has nothing to go on — but it lands in the neutral bucket looking like a real judgment.
Strip those out and VADER identifies genuine neutral sentiment in under 2% of half a million comments. It is not really a three-class method at all. Hand-labelling says 37% of this corpus is genuinely neutral, so neither lexicon is finding it.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r>
              <a:rPr lang="en-US" dirty="0"/>
              <a:t> Raw pairwise agreement ranges from 36.6% to 56.2%. All four methods assign the same label to only **97,088 comments — 19.5% of the corpus** Raw agreement has a floor problem: two methods that both predict negative frequently will match often through coincidence alone, with no real correspondence between their judgments. Cohen's kappa adjusts for the agreement expected by chance given each method's class proportions.</a:t>
            </a:r>
          </a:p>
        </p:txBody>
      </p:sp>
    </p:spTree>
    <p:extLst>
      <p:ext uri="{BB962C8B-B14F-4D97-AF65-F5344CB8AC3E}">
        <p14:creationId xmlns:p14="http://schemas.microsoft.com/office/powerpoint/2010/main" val="4640096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r>
              <a:rPr lang="en-US" dirty="0"/>
              <a:t>After correcting for chance, the two lexicons correspond more closely (kappa = 0.332 against 0.278) — the transformers only appeared close because both lean heavily negative, inflating coincidental matches. Every pair falls in the "slight" or "fair" band. None reaches moderate agreement.</a:t>
            </a:r>
          </a:p>
        </p:txBody>
      </p:sp>
    </p:spTree>
    <p:extLst>
      <p:ext uri="{BB962C8B-B14F-4D97-AF65-F5344CB8AC3E}">
        <p14:creationId xmlns:p14="http://schemas.microsoft.com/office/powerpoint/2010/main" val="37261249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PACE: fast — the diagram reads itself. One or two sentences.
Raw agreement is misleading, because two methods that both label most things negative will match often by coincidence. Cohen's kappa discounts that. Once corrected, a clean pattern appears: order the methods by how negative they are, and agreement drops steadily with distance along that line. The two transformers are not the closest pair — VADER and RoBERTa are, despite coming from different families.
The takeaway: what predicts whether two methods agree is not their architecture, it is how readily each reaches for a negative label.
Kappa never exceeds 0.33 here, which is 'fair' at best on the standard interpretation. No pair reaches moderate agreement.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PACE: HOLD. This is the methodological core.
Because the methods contradict each other, we needed an external reference. We hand-labelled 100 randomly drawn comments.
Two design points matter. The annotation file contained no model predictions — seeing that three methods said negative would anchor the judgment, and then you are measuring agreement with the models rather than with the truth. And the coding rules were written down before starting.
The key rule is the third one: label the attitude the commenter expresses, not whether the subject matter is pleasant. A factual statement about something unwelcome is neutral. That is exactly the distinction the four methods were spread along, so applying it consistently is what determines the result.
The answer: this corpus is 44% negative, 37% neutral, 19% positive.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PACE: HOLD. This is the result.
RoBERTa is twenty points ahead of everything else.
Two things worth pointing out. First, macro-F1 rather than accuracy. TextBlob and BERT both score exactly 50% and look equivalent — macro-F1 separates them by five points because BERT catches only 4 of the 37 neutral comments in the benchmark. Choosing that metric in advance is what made the difference visible.
Second, we tested whether the gaps are real by comparing each pair only on comments where they disagreed. RoBERTa beats all three significantly. The other three are statistically indistinguishable — so the honest ranking is RoBERTa first, then a three-way tie.
The panel: every method's most common error involves neutral comments, but the families fail in opposite directions. And the serious one — genuinely negative comments called positive — happens 13 and 15 times for the lexicons against RoBERTa's once.
Be upfront about the limits: it is wrong on about 30% of individual comments, so it is dependable in aggregate but you should not quote any single comment's label. And it over-reads negative, so absolute levels are inflated even though comparisons between groups hold.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PACE: fast. Read ONE example aloud — the housing bill — and move on.
Alongside the numbers we looked at the hardest cases: 25 comments picked precisely because the four methods disagreed completely, producing all three labels between them. On thirteen of those, only one method matched the human label, and that method was RoBERTa eight times.
The pattern in those eight is consistent: factual or explanatory writing about a charged subject. The first example is a verbatim summary of a housing bill — obviously neutral to a person reading it, but every other method found sentiment in it, because the subject matter is contentious even though the writing is not.
The other two are the reverse problem: clearly negative comments containing no negative vocabulary at all. A lexicon has nothing to grab onto.
Important caveat: these were selected for difficulty and are excluded from every accuracy number. They show how the methods fail; they do not measure how often.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dirty="0"/>
          </a:p>
        </p:txBody>
      </p:sp>
    </p:spTree>
    <p:extLst>
      <p:ext uri="{BB962C8B-B14F-4D97-AF65-F5344CB8AC3E}">
        <p14:creationId xmlns:p14="http://schemas.microsoft.com/office/powerpoint/2010/main" val="24520751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PACE: HOLD. This answers the first research question.
Applying the selected model across the five topics gives a clear ranking. Politics is the most critical theme, housing close behind, and neighbourhoods the least critical by a wide margin — a 27.8 point gap.
The reading: criticism attaches to institutions and policy rather than to the city itself. Housing is the interesting case — it could have patterned with neighbourhoods, since where you live is a daily-life matter, but it sits with politics instead. This community discusses housing as a policy failure.
Credit where due: the topics come from the topic modelling component — LDA with five topics, chosen on coherence and diversity. We reproduced the model on our side so the assignments line up exactly with the sentiment scores.
One honest qualification: two of the five topics did not resolve into coherent subjects. General Discussions and News Reactions are mixed bags, so their sentiment numbers reflect heterogeneous content. The three interpretable themes are the ones the conclusion rests on.
IF ASKED about the robustness checks: the ranking is identical when we keep only comments confidently assigned to their topic, it holds when top-level comments and replies are analysed separately — replies are uniformly a few points more negative but the ordering does not move — and no topic overtakes another in any of the eleven months.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PACE: HOLD. Close here.
The sentiment work answers two of the study's research questions.
The first is answered cleanly — themes differ by nearly 28 points, and the ranking holds under every robustness check we applied.
The second is not supported, and that is itself a finding. The expectation going in was that negativity drives attention. It does not, at least here. Politics is the most critical theme but only third by volume; neighbourhoods is the least critical but second largest. The reading is that volume tracks daily relevance rather than negativity — people write most about what they encounter constantly, and criticise most what frustrates them institutionally.
Close on the takeaway: four methods, identical text, forty points apart on the most basic question you could ask of this corpus. That is why the model selection work mattered — pick the wrong one and every downstream conclusion changes.
IF ASKED why RQ4 uses volume: the corpus has no per-topic measure of reader response, so volume is the available proxy. A measure of reader response might behave differently.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A1A1A"/>
          </a:solidFill>
          <a:ln/>
        </p:spPr>
        <p:txBody>
          <a:bodyPr/>
          <a:lstStyle/>
          <a:p>
            <a:endParaRPr lang="en-US"/>
          </a:p>
        </p:txBody>
      </p:sp>
      <p:sp>
        <p:nvSpPr>
          <p:cNvPr id="3" name="Text 1"/>
          <p:cNvSpPr/>
          <p:nvPr/>
        </p:nvSpPr>
        <p:spPr>
          <a:xfrm>
            <a:off x="822960" y="1234440"/>
            <a:ext cx="8686800" cy="822960"/>
          </a:xfrm>
          <a:prstGeom prst="rect">
            <a:avLst/>
          </a:prstGeom>
          <a:noFill/>
          <a:ln/>
        </p:spPr>
        <p:txBody>
          <a:bodyPr wrap="square" lIns="0" tIns="0" rIns="0" bIns="0" rtlCol="0" anchor="ctr"/>
          <a:lstStyle/>
          <a:p>
            <a:pPr marL="0" indent="0">
              <a:buNone/>
            </a:pPr>
            <a:r>
              <a:rPr lang="en-US" sz="4200" b="1" dirty="0">
                <a:solidFill>
                  <a:srgbClr val="FFFFFF"/>
                </a:solidFill>
                <a:latin typeface="Cambria" pitchFamily="34" charset="0"/>
                <a:ea typeface="Cambria" pitchFamily="34" charset="-122"/>
                <a:cs typeface="Cambria" pitchFamily="34" charset="-120"/>
              </a:rPr>
              <a:t>Sentiment Analysis</a:t>
            </a:r>
            <a:endParaRPr lang="en-US" sz="4200" dirty="0"/>
          </a:p>
        </p:txBody>
      </p:sp>
      <p:sp>
        <p:nvSpPr>
          <p:cNvPr id="4" name="Text 2"/>
          <p:cNvSpPr/>
          <p:nvPr/>
        </p:nvSpPr>
        <p:spPr>
          <a:xfrm>
            <a:off x="822960" y="2084832"/>
            <a:ext cx="9601200" cy="365760"/>
          </a:xfrm>
          <a:prstGeom prst="rect">
            <a:avLst/>
          </a:prstGeom>
          <a:noFill/>
          <a:ln/>
        </p:spPr>
        <p:txBody>
          <a:bodyPr wrap="square" lIns="0" tIns="0" rIns="0" bIns="0" rtlCol="0" anchor="ctr"/>
          <a:lstStyle/>
          <a:p>
            <a:pPr marL="0" indent="0">
              <a:buNone/>
            </a:pPr>
            <a:r>
              <a:rPr lang="en-US" sz="1400" dirty="0">
                <a:solidFill>
                  <a:srgbClr val="9A9A9A"/>
                </a:solidFill>
                <a:latin typeface="Calibri" pitchFamily="34" charset="0"/>
                <a:ea typeface="Calibri" pitchFamily="34" charset="-122"/>
                <a:cs typeface="Calibri" pitchFamily="34" charset="-120"/>
              </a:rPr>
              <a:t>LA Reddit Community Analysis  ·  r/LosAngeles  ·  Aug 2025 – Jun 2026</a:t>
            </a:r>
            <a:endParaRPr lang="en-US" sz="1400" dirty="0"/>
          </a:p>
        </p:txBody>
      </p:sp>
      <p:sp>
        <p:nvSpPr>
          <p:cNvPr id="5" name="Shape 3"/>
          <p:cNvSpPr/>
          <p:nvPr/>
        </p:nvSpPr>
        <p:spPr>
          <a:xfrm>
            <a:off x="822960" y="2971800"/>
            <a:ext cx="10515600" cy="0"/>
          </a:xfrm>
          <a:prstGeom prst="line">
            <a:avLst/>
          </a:prstGeom>
          <a:noFill/>
          <a:ln w="12700">
            <a:solidFill>
              <a:srgbClr val="4A4A4A"/>
            </a:solidFill>
            <a:prstDash val="solid"/>
          </a:ln>
        </p:spPr>
        <p:txBody>
          <a:bodyPr/>
          <a:lstStyle/>
          <a:p>
            <a:endParaRPr lang="en-US"/>
          </a:p>
        </p:txBody>
      </p:sp>
      <p:sp>
        <p:nvSpPr>
          <p:cNvPr id="6" name="Text 4"/>
          <p:cNvSpPr/>
          <p:nvPr/>
        </p:nvSpPr>
        <p:spPr>
          <a:xfrm>
            <a:off x="822960" y="3310128"/>
            <a:ext cx="10515600" cy="566928"/>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Four methods.</a:t>
            </a:r>
            <a:endParaRPr lang="en-US" sz="3000" dirty="0"/>
          </a:p>
        </p:txBody>
      </p:sp>
      <p:sp>
        <p:nvSpPr>
          <p:cNvPr id="7" name="Text 5"/>
          <p:cNvSpPr/>
          <p:nvPr/>
        </p:nvSpPr>
        <p:spPr>
          <a:xfrm>
            <a:off x="822960" y="3877056"/>
            <a:ext cx="10515600" cy="566928"/>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The same 498,147 comments.</a:t>
            </a:r>
            <a:endParaRPr lang="en-US" sz="3000" dirty="0"/>
          </a:p>
        </p:txBody>
      </p:sp>
      <p:sp>
        <p:nvSpPr>
          <p:cNvPr id="8" name="Text 6"/>
          <p:cNvSpPr/>
          <p:nvPr/>
        </p:nvSpPr>
        <p:spPr>
          <a:xfrm>
            <a:off x="822960" y="4443984"/>
            <a:ext cx="10515600" cy="566928"/>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Between </a:t>
            </a:r>
            <a:r>
              <a:rPr lang="en-US" sz="3000" b="1" dirty="0">
                <a:solidFill>
                  <a:srgbClr val="E88A8A"/>
                </a:solidFill>
                <a:latin typeface="Cambria" pitchFamily="34" charset="0"/>
                <a:ea typeface="Cambria" pitchFamily="34" charset="-122"/>
                <a:cs typeface="Cambria" pitchFamily="34" charset="-120"/>
              </a:rPr>
              <a:t>23% and 63%</a:t>
            </a:r>
            <a:r>
              <a:rPr lang="en-US" sz="3000" b="1" dirty="0">
                <a:solidFill>
                  <a:srgbClr val="FFFFFF"/>
                </a:solidFill>
                <a:latin typeface="Cambria" pitchFamily="34" charset="0"/>
                <a:ea typeface="Cambria" pitchFamily="34" charset="-122"/>
                <a:cs typeface="Cambria" pitchFamily="34" charset="-120"/>
              </a:rPr>
              <a:t> of them negative.</a:t>
            </a:r>
            <a:endParaRPr lang="en-US" sz="3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384048"/>
            <a:ext cx="11091672" cy="566928"/>
          </a:xfrm>
          <a:prstGeom prst="rect">
            <a:avLst/>
          </a:prstGeom>
          <a:noFill/>
          <a:ln/>
        </p:spPr>
        <p:txBody>
          <a:bodyPr wrap="square" lIns="0" tIns="0" rIns="0" bIns="0" rtlCol="0" anchor="ctr"/>
          <a:lstStyle/>
          <a:p>
            <a:pPr marL="0" indent="0">
              <a:buNone/>
            </a:pPr>
            <a:r>
              <a:rPr lang="en-US" sz="3000" b="1" dirty="0">
                <a:solidFill>
                  <a:srgbClr val="1A1A1A"/>
                </a:solidFill>
                <a:latin typeface="Cambria" pitchFamily="34" charset="0"/>
                <a:ea typeface="Cambria" pitchFamily="34" charset="-122"/>
                <a:cs typeface="Cambria" pitchFamily="34" charset="-120"/>
              </a:rPr>
              <a:t>Two families of method</a:t>
            </a:r>
            <a:endParaRPr lang="en-US" sz="3000" dirty="0"/>
          </a:p>
        </p:txBody>
      </p:sp>
      <p:sp>
        <p:nvSpPr>
          <p:cNvPr id="3" name="Text 1"/>
          <p:cNvSpPr/>
          <p:nvPr/>
        </p:nvSpPr>
        <p:spPr>
          <a:xfrm>
            <a:off x="548640" y="950976"/>
            <a:ext cx="11091672" cy="310896"/>
          </a:xfrm>
          <a:prstGeom prst="rect">
            <a:avLst/>
          </a:prstGeom>
          <a:noFill/>
          <a:ln/>
        </p:spPr>
        <p:txBody>
          <a:bodyPr wrap="square" lIns="0" tIns="0" rIns="0" bIns="0" rtlCol="0" anchor="ctr"/>
          <a:lstStyle/>
          <a:p>
            <a:pPr marL="0" indent="0">
              <a:buNone/>
            </a:pPr>
            <a:r>
              <a:rPr lang="en-US" sz="1400" i="1" dirty="0">
                <a:solidFill>
                  <a:srgbClr val="767676"/>
                </a:solidFill>
                <a:latin typeface="Calibri" pitchFamily="34" charset="0"/>
                <a:ea typeface="Calibri" pitchFamily="34" charset="-122"/>
                <a:cs typeface="Calibri" pitchFamily="34" charset="-120"/>
              </a:rPr>
              <a:t>Four methods applied to all 498,147 comments</a:t>
            </a:r>
            <a:endParaRPr lang="en-US" sz="1400" dirty="0"/>
          </a:p>
        </p:txBody>
      </p:sp>
      <p:sp>
        <p:nvSpPr>
          <p:cNvPr id="4" name="Shape 2"/>
          <p:cNvSpPr/>
          <p:nvPr/>
        </p:nvSpPr>
        <p:spPr>
          <a:xfrm>
            <a:off x="548640" y="1481328"/>
            <a:ext cx="5394960" cy="3840480"/>
          </a:xfrm>
          <a:prstGeom prst="roundRect">
            <a:avLst>
              <a:gd name="adj" fmla="val 952"/>
            </a:avLst>
          </a:prstGeom>
          <a:solidFill>
            <a:srgbClr val="F4F4F4"/>
          </a:solidFill>
          <a:ln w="9525">
            <a:solidFill>
              <a:srgbClr val="D8D8D8"/>
            </a:solidFill>
            <a:prstDash val="solid"/>
          </a:ln>
        </p:spPr>
        <p:txBody>
          <a:bodyPr/>
          <a:lstStyle/>
          <a:p>
            <a:endParaRPr lang="en-US"/>
          </a:p>
        </p:txBody>
      </p:sp>
      <p:sp>
        <p:nvSpPr>
          <p:cNvPr id="5" name="Text 3"/>
          <p:cNvSpPr/>
          <p:nvPr/>
        </p:nvSpPr>
        <p:spPr>
          <a:xfrm>
            <a:off x="868680" y="1737360"/>
            <a:ext cx="4754880" cy="365760"/>
          </a:xfrm>
          <a:prstGeom prst="rect">
            <a:avLst/>
          </a:prstGeom>
          <a:noFill/>
          <a:ln/>
        </p:spPr>
        <p:txBody>
          <a:bodyPr wrap="square" lIns="0" tIns="0" rIns="0" bIns="0" rtlCol="0" anchor="ctr"/>
          <a:lstStyle/>
          <a:p>
            <a:pPr marL="0" indent="0">
              <a:buNone/>
            </a:pPr>
            <a:r>
              <a:rPr lang="en-US" sz="2000" b="1" dirty="0">
                <a:solidFill>
                  <a:srgbClr val="1A1A1A"/>
                </a:solidFill>
                <a:latin typeface="Cambria" pitchFamily="34" charset="0"/>
                <a:ea typeface="Cambria" pitchFamily="34" charset="-122"/>
                <a:cs typeface="Cambria" pitchFamily="34" charset="-120"/>
              </a:rPr>
              <a:t>Lexicon-based</a:t>
            </a:r>
            <a:endParaRPr lang="en-US" sz="2000" dirty="0"/>
          </a:p>
        </p:txBody>
      </p:sp>
      <p:sp>
        <p:nvSpPr>
          <p:cNvPr id="6" name="Text 4"/>
          <p:cNvSpPr/>
          <p:nvPr/>
        </p:nvSpPr>
        <p:spPr>
          <a:xfrm>
            <a:off x="868680" y="2121408"/>
            <a:ext cx="4754880" cy="548640"/>
          </a:xfrm>
          <a:prstGeom prst="rect">
            <a:avLst/>
          </a:prstGeom>
          <a:noFill/>
          <a:ln/>
        </p:spPr>
        <p:txBody>
          <a:bodyPr wrap="square" lIns="0" tIns="0" rIns="0" bIns="0" rtlCol="0" anchor="ctr"/>
          <a:lstStyle/>
          <a:p>
            <a:pPr marL="0" indent="0">
              <a:buNone/>
            </a:pPr>
            <a:r>
              <a:rPr lang="en-US" sz="1300" dirty="0">
                <a:solidFill>
                  <a:srgbClr val="3D3D3D"/>
                </a:solidFill>
                <a:latin typeface="Calibri" pitchFamily="34" charset="0"/>
                <a:ea typeface="Calibri" pitchFamily="34" charset="-122"/>
                <a:cs typeface="Calibri" pitchFamily="34" charset="-120"/>
              </a:rPr>
              <a:t>Look up each word in a pre-built dictionary and combine the scores.</a:t>
            </a:r>
            <a:endParaRPr lang="en-US" sz="1300" dirty="0"/>
          </a:p>
        </p:txBody>
      </p:sp>
      <p:sp>
        <p:nvSpPr>
          <p:cNvPr id="7" name="Text 5"/>
          <p:cNvSpPr/>
          <p:nvPr/>
        </p:nvSpPr>
        <p:spPr>
          <a:xfrm>
            <a:off x="868680" y="2788920"/>
            <a:ext cx="4754880" cy="1554480"/>
          </a:xfrm>
          <a:prstGeom prst="rect">
            <a:avLst/>
          </a:prstGeom>
          <a:noFill/>
          <a:ln/>
        </p:spPr>
        <p:txBody>
          <a:bodyPr wrap="square" lIns="0" tIns="0" rIns="0" bIns="0" rtlCol="0" anchor="ctr"/>
          <a:lstStyle/>
          <a:p>
            <a:pPr marL="0" indent="0">
              <a:lnSpc>
                <a:spcPts val="1700"/>
              </a:lnSpc>
              <a:buNone/>
            </a:pPr>
            <a:r>
              <a:rPr lang="en-US" sz="1300" b="1" dirty="0">
                <a:solidFill>
                  <a:srgbClr val="3D3D3D"/>
                </a:solidFill>
                <a:latin typeface="Calibri" pitchFamily="34" charset="0"/>
                <a:ea typeface="Calibri" pitchFamily="34" charset="-122"/>
                <a:cs typeface="Calibri" pitchFamily="34" charset="-120"/>
              </a:rPr>
              <a:t>TextBlob</a:t>
            </a:r>
            <a:endParaRPr lang="en-US" sz="1300" dirty="0"/>
          </a:p>
          <a:p>
            <a:pPr marL="0" indent="0">
              <a:lnSpc>
                <a:spcPts val="1700"/>
              </a:lnSpc>
              <a:buNone/>
            </a:pPr>
            <a:r>
              <a:rPr lang="en-US" sz="1300" dirty="0">
                <a:solidFill>
                  <a:srgbClr val="3D3D3D"/>
                </a:solidFill>
                <a:latin typeface="Calibri" pitchFamily="34" charset="0"/>
                <a:ea typeface="Calibri" pitchFamily="34" charset="-122"/>
                <a:cs typeface="Calibri" pitchFamily="34" charset="-120"/>
              </a:rPr>
              <a:t>Averages the sentiment values of recognised words</a:t>
            </a:r>
            <a:endParaRPr lang="en-US" sz="1300" dirty="0"/>
          </a:p>
          <a:p>
            <a:pPr marL="0" indent="0">
              <a:lnSpc>
                <a:spcPts val="1700"/>
              </a:lnSpc>
              <a:buNone/>
            </a:pPr>
            <a:r>
              <a:rPr lang="en-US" sz="600" dirty="0">
                <a:solidFill>
                  <a:srgbClr val="3D3D3D"/>
                </a:solidFill>
                <a:latin typeface="Calibri" pitchFamily="34" charset="0"/>
                <a:ea typeface="Calibri" pitchFamily="34" charset="-122"/>
                <a:cs typeface="Calibri" pitchFamily="34" charset="-120"/>
              </a:rPr>
              <a:t> </a:t>
            </a:r>
            <a:endParaRPr lang="en-US" sz="1300" dirty="0"/>
          </a:p>
          <a:p>
            <a:pPr marL="0" indent="0">
              <a:lnSpc>
                <a:spcPts val="1700"/>
              </a:lnSpc>
              <a:buNone/>
            </a:pPr>
            <a:r>
              <a:rPr lang="en-US" sz="1300" b="1" dirty="0">
                <a:solidFill>
                  <a:srgbClr val="3D3D3D"/>
                </a:solidFill>
                <a:latin typeface="Calibri" pitchFamily="34" charset="0"/>
                <a:ea typeface="Calibri" pitchFamily="34" charset="-122"/>
                <a:cs typeface="Calibri" pitchFamily="34" charset="-120"/>
              </a:rPr>
              <a:t>VADER</a:t>
            </a:r>
            <a:endParaRPr lang="en-US" sz="1300" dirty="0"/>
          </a:p>
          <a:p>
            <a:pPr marL="0" indent="0">
              <a:lnSpc>
                <a:spcPts val="1700"/>
              </a:lnSpc>
              <a:buNone/>
            </a:pPr>
            <a:r>
              <a:rPr lang="en-US" sz="1300" dirty="0">
                <a:solidFill>
                  <a:srgbClr val="3D3D3D"/>
                </a:solidFill>
                <a:latin typeface="Calibri" pitchFamily="34" charset="0"/>
                <a:ea typeface="Calibri" pitchFamily="34" charset="-122"/>
                <a:cs typeface="Calibri" pitchFamily="34" charset="-120"/>
              </a:rPr>
              <a:t>Adds rules for negation, intensifiers, capitalisation, emoji</a:t>
            </a:r>
            <a:endParaRPr lang="en-US" sz="1300" dirty="0"/>
          </a:p>
        </p:txBody>
      </p:sp>
      <p:sp>
        <p:nvSpPr>
          <p:cNvPr id="8" name="Text 6"/>
          <p:cNvSpPr/>
          <p:nvPr/>
        </p:nvSpPr>
        <p:spPr>
          <a:xfrm>
            <a:off x="868680" y="4572000"/>
            <a:ext cx="4754880" cy="548640"/>
          </a:xfrm>
          <a:prstGeom prst="rect">
            <a:avLst/>
          </a:prstGeom>
          <a:noFill/>
          <a:ln/>
        </p:spPr>
        <p:txBody>
          <a:bodyPr wrap="square" lIns="0" tIns="0" rIns="0" bIns="0" rtlCol="0" anchor="ctr"/>
          <a:lstStyle/>
          <a:p>
            <a:pPr marL="0" indent="0">
              <a:buNone/>
            </a:pPr>
            <a:r>
              <a:rPr lang="en-US" sz="1200" i="1" dirty="0">
                <a:solidFill>
                  <a:srgbClr val="767676"/>
                </a:solidFill>
                <a:latin typeface="Calibri" pitchFamily="34" charset="0"/>
                <a:ea typeface="Calibri" pitchFamily="34" charset="-122"/>
                <a:cs typeface="Calibri" pitchFamily="34" charset="-120"/>
              </a:rPr>
              <a:t>No representation of context — each word scored independently.</a:t>
            </a:r>
            <a:endParaRPr lang="en-US" sz="1200" dirty="0"/>
          </a:p>
        </p:txBody>
      </p:sp>
      <p:sp>
        <p:nvSpPr>
          <p:cNvPr id="9" name="Shape 7"/>
          <p:cNvSpPr/>
          <p:nvPr/>
        </p:nvSpPr>
        <p:spPr>
          <a:xfrm>
            <a:off x="6245352" y="1481328"/>
            <a:ext cx="5394960" cy="3840480"/>
          </a:xfrm>
          <a:prstGeom prst="roundRect">
            <a:avLst>
              <a:gd name="adj" fmla="val 952"/>
            </a:avLst>
          </a:prstGeom>
          <a:solidFill>
            <a:srgbClr val="F4F4F4"/>
          </a:solidFill>
          <a:ln w="9525">
            <a:solidFill>
              <a:srgbClr val="D8D8D8"/>
            </a:solidFill>
            <a:prstDash val="solid"/>
          </a:ln>
        </p:spPr>
        <p:txBody>
          <a:bodyPr/>
          <a:lstStyle/>
          <a:p>
            <a:endParaRPr lang="en-US"/>
          </a:p>
        </p:txBody>
      </p:sp>
      <p:sp>
        <p:nvSpPr>
          <p:cNvPr id="10" name="Text 8"/>
          <p:cNvSpPr/>
          <p:nvPr/>
        </p:nvSpPr>
        <p:spPr>
          <a:xfrm>
            <a:off x="6565392" y="1737360"/>
            <a:ext cx="4754880" cy="365760"/>
          </a:xfrm>
          <a:prstGeom prst="rect">
            <a:avLst/>
          </a:prstGeom>
          <a:noFill/>
          <a:ln/>
        </p:spPr>
        <p:txBody>
          <a:bodyPr wrap="square" lIns="0" tIns="0" rIns="0" bIns="0" rtlCol="0" anchor="ctr"/>
          <a:lstStyle/>
          <a:p>
            <a:pPr marL="0" indent="0">
              <a:buNone/>
            </a:pPr>
            <a:r>
              <a:rPr lang="en-US" sz="2000" b="1" dirty="0">
                <a:solidFill>
                  <a:srgbClr val="1A1A1A"/>
                </a:solidFill>
                <a:latin typeface="Cambria" pitchFamily="34" charset="0"/>
                <a:ea typeface="Cambria" pitchFamily="34" charset="-122"/>
                <a:cs typeface="Cambria" pitchFamily="34" charset="-120"/>
              </a:rPr>
              <a:t>Transformer-based</a:t>
            </a:r>
            <a:endParaRPr lang="en-US" sz="2000" dirty="0"/>
          </a:p>
        </p:txBody>
      </p:sp>
      <p:sp>
        <p:nvSpPr>
          <p:cNvPr id="11" name="Text 9"/>
          <p:cNvSpPr/>
          <p:nvPr/>
        </p:nvSpPr>
        <p:spPr>
          <a:xfrm>
            <a:off x="6565392" y="2121408"/>
            <a:ext cx="4754880" cy="548640"/>
          </a:xfrm>
          <a:prstGeom prst="rect">
            <a:avLst/>
          </a:prstGeom>
          <a:noFill/>
          <a:ln/>
        </p:spPr>
        <p:txBody>
          <a:bodyPr wrap="square" lIns="0" tIns="0" rIns="0" bIns="0" rtlCol="0" anchor="ctr"/>
          <a:lstStyle/>
          <a:p>
            <a:pPr marL="0" indent="0">
              <a:buNone/>
            </a:pPr>
            <a:r>
              <a:rPr lang="en-US" sz="1300" dirty="0">
                <a:solidFill>
                  <a:srgbClr val="3D3D3D"/>
                </a:solidFill>
                <a:latin typeface="Calibri" pitchFamily="34" charset="0"/>
                <a:ea typeface="Calibri" pitchFamily="34" charset="-122"/>
                <a:cs typeface="Calibri" pitchFamily="34" charset="-120"/>
              </a:rPr>
              <a:t>Neural models trained on labelled examples, accounting for word order and context.</a:t>
            </a:r>
            <a:endParaRPr lang="en-US" sz="1300" dirty="0"/>
          </a:p>
        </p:txBody>
      </p:sp>
      <p:sp>
        <p:nvSpPr>
          <p:cNvPr id="12" name="Text 10"/>
          <p:cNvSpPr/>
          <p:nvPr/>
        </p:nvSpPr>
        <p:spPr>
          <a:xfrm>
            <a:off x="6565392" y="2788920"/>
            <a:ext cx="4754880" cy="1554480"/>
          </a:xfrm>
          <a:prstGeom prst="rect">
            <a:avLst/>
          </a:prstGeom>
          <a:noFill/>
          <a:ln/>
        </p:spPr>
        <p:txBody>
          <a:bodyPr wrap="square" lIns="0" tIns="0" rIns="0" bIns="0" rtlCol="0" anchor="ctr"/>
          <a:lstStyle/>
          <a:p>
            <a:pPr marL="0" indent="0">
              <a:lnSpc>
                <a:spcPts val="1700"/>
              </a:lnSpc>
              <a:buNone/>
            </a:pPr>
            <a:r>
              <a:rPr lang="en-US" sz="1300" b="1" dirty="0">
                <a:solidFill>
                  <a:srgbClr val="3D3D3D"/>
                </a:solidFill>
                <a:latin typeface="Calibri" pitchFamily="34" charset="0"/>
                <a:ea typeface="Calibri" pitchFamily="34" charset="-122"/>
                <a:cs typeface="Calibri" pitchFamily="34" charset="-120"/>
              </a:rPr>
              <a:t>Twitter-RoBERTa</a:t>
            </a:r>
            <a:endParaRPr lang="en-US" sz="1300" dirty="0"/>
          </a:p>
          <a:p>
            <a:pPr marL="0" indent="0">
              <a:lnSpc>
                <a:spcPts val="1700"/>
              </a:lnSpc>
              <a:buNone/>
            </a:pPr>
            <a:r>
              <a:rPr lang="en-US" sz="1300" dirty="0">
                <a:solidFill>
                  <a:srgbClr val="3D3D3D"/>
                </a:solidFill>
                <a:latin typeface="Calibri" pitchFamily="34" charset="0"/>
                <a:ea typeface="Calibri" pitchFamily="34" charset="-122"/>
                <a:cs typeface="Calibri" pitchFamily="34" charset="-120"/>
              </a:rPr>
              <a:t>Trained on social media text; outputs three classes directly</a:t>
            </a:r>
            <a:endParaRPr lang="en-US" sz="1300" dirty="0"/>
          </a:p>
          <a:p>
            <a:pPr marL="0" indent="0">
              <a:lnSpc>
                <a:spcPts val="1700"/>
              </a:lnSpc>
              <a:buNone/>
            </a:pPr>
            <a:r>
              <a:rPr lang="en-US" sz="600" dirty="0">
                <a:solidFill>
                  <a:srgbClr val="3D3D3D"/>
                </a:solidFill>
                <a:latin typeface="Calibri" pitchFamily="34" charset="0"/>
                <a:ea typeface="Calibri" pitchFamily="34" charset="-122"/>
                <a:cs typeface="Calibri" pitchFamily="34" charset="-120"/>
              </a:rPr>
              <a:t> </a:t>
            </a:r>
            <a:endParaRPr lang="en-US" sz="1300" dirty="0"/>
          </a:p>
          <a:p>
            <a:pPr marL="0" indent="0">
              <a:lnSpc>
                <a:spcPts val="1700"/>
              </a:lnSpc>
              <a:buNone/>
            </a:pPr>
            <a:r>
              <a:rPr lang="en-US" sz="1300" b="1" dirty="0">
                <a:solidFill>
                  <a:srgbClr val="3D3D3D"/>
                </a:solidFill>
                <a:latin typeface="Calibri" pitchFamily="34" charset="0"/>
                <a:ea typeface="Calibri" pitchFamily="34" charset="-122"/>
                <a:cs typeface="Calibri" pitchFamily="34" charset="-120"/>
              </a:rPr>
              <a:t>Multilingual BERT</a:t>
            </a:r>
            <a:endParaRPr lang="en-US" sz="1300" dirty="0"/>
          </a:p>
          <a:p>
            <a:pPr marL="0" indent="0">
              <a:lnSpc>
                <a:spcPts val="1700"/>
              </a:lnSpc>
              <a:buNone/>
            </a:pPr>
            <a:r>
              <a:rPr lang="en-US" sz="1300" dirty="0">
                <a:solidFill>
                  <a:srgbClr val="3D3D3D"/>
                </a:solidFill>
                <a:latin typeface="Calibri" pitchFamily="34" charset="0"/>
                <a:ea typeface="Calibri" pitchFamily="34" charset="-122"/>
                <a:cs typeface="Calibri" pitchFamily="34" charset="-120"/>
              </a:rPr>
              <a:t>General-purpose; outputs a 1–5 star rating, converted to three</a:t>
            </a:r>
            <a:endParaRPr lang="en-US" sz="1300" dirty="0"/>
          </a:p>
        </p:txBody>
      </p:sp>
      <p:sp>
        <p:nvSpPr>
          <p:cNvPr id="13" name="Text 11"/>
          <p:cNvSpPr/>
          <p:nvPr/>
        </p:nvSpPr>
        <p:spPr>
          <a:xfrm>
            <a:off x="6565392" y="4572000"/>
            <a:ext cx="4754880" cy="548640"/>
          </a:xfrm>
          <a:prstGeom prst="rect">
            <a:avLst/>
          </a:prstGeom>
          <a:noFill/>
          <a:ln/>
        </p:spPr>
        <p:txBody>
          <a:bodyPr wrap="square" lIns="0" tIns="0" rIns="0" bIns="0" rtlCol="0" anchor="ctr"/>
          <a:lstStyle/>
          <a:p>
            <a:pPr marL="0" indent="0">
              <a:buNone/>
            </a:pPr>
            <a:r>
              <a:rPr lang="en-US" sz="1200" i="1" dirty="0">
                <a:solidFill>
                  <a:srgbClr val="767676"/>
                </a:solidFill>
                <a:latin typeface="Calibri" pitchFamily="34" charset="0"/>
                <a:ea typeface="Calibri" pitchFamily="34" charset="-122"/>
                <a:cs typeface="Calibri" pitchFamily="34" charset="-120"/>
              </a:rPr>
              <a:t>One domain-matched, one not — so the benchmark can test whether that matters.</a:t>
            </a:r>
            <a:endParaRPr lang="en-US" sz="1200" dirty="0"/>
          </a:p>
        </p:txBody>
      </p:sp>
      <p:sp>
        <p:nvSpPr>
          <p:cNvPr id="14" name="Text 12"/>
          <p:cNvSpPr/>
          <p:nvPr/>
        </p:nvSpPr>
        <p:spPr>
          <a:xfrm>
            <a:off x="548640" y="5577840"/>
            <a:ext cx="11091672" cy="365760"/>
          </a:xfrm>
          <a:prstGeom prst="rect">
            <a:avLst/>
          </a:prstGeom>
          <a:noFill/>
          <a:ln/>
        </p:spPr>
        <p:txBody>
          <a:bodyPr wrap="square" lIns="0" tIns="0" rIns="0" bIns="0" rtlCol="0" anchor="ctr"/>
          <a:lstStyle/>
          <a:p>
            <a:pPr marL="0" indent="0">
              <a:buNone/>
            </a:pPr>
            <a:r>
              <a:rPr lang="en-US" sz="1300" dirty="0">
                <a:solidFill>
                  <a:srgbClr val="3D3D3D"/>
                </a:solidFill>
                <a:latin typeface="Calibri" pitchFamily="34" charset="0"/>
                <a:ea typeface="Calibri" pitchFamily="34" charset="-122"/>
                <a:cs typeface="Calibri" pitchFamily="34" charset="-120"/>
              </a:rPr>
              <a:t>Sentiment scored on text preserving capitalisation and emoji — signals the standard cleaned text discards.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384048"/>
            <a:ext cx="11091672" cy="566928"/>
          </a:xfrm>
          <a:prstGeom prst="rect">
            <a:avLst/>
          </a:prstGeom>
          <a:noFill/>
          <a:ln/>
        </p:spPr>
        <p:txBody>
          <a:bodyPr wrap="square" lIns="0" tIns="0" rIns="0" bIns="0" rtlCol="0" anchor="ctr"/>
          <a:lstStyle/>
          <a:p>
            <a:pPr marL="0" indent="0">
              <a:buNone/>
            </a:pPr>
            <a:r>
              <a:rPr lang="en-US" sz="3000" b="1" dirty="0">
                <a:solidFill>
                  <a:srgbClr val="1A1A1A"/>
                </a:solidFill>
                <a:latin typeface="Cambria" pitchFamily="34" charset="0"/>
                <a:ea typeface="Cambria" pitchFamily="34" charset="-122"/>
                <a:cs typeface="Cambria" pitchFamily="34" charset="-120"/>
              </a:rPr>
              <a:t>The four methods disagree sharply</a:t>
            </a:r>
            <a:endParaRPr lang="en-US" sz="3000" dirty="0"/>
          </a:p>
        </p:txBody>
      </p:sp>
      <p:sp>
        <p:nvSpPr>
          <p:cNvPr id="3" name="Text 1"/>
          <p:cNvSpPr/>
          <p:nvPr/>
        </p:nvSpPr>
        <p:spPr>
          <a:xfrm>
            <a:off x="548640" y="950976"/>
            <a:ext cx="11091672" cy="310896"/>
          </a:xfrm>
          <a:prstGeom prst="rect">
            <a:avLst/>
          </a:prstGeom>
          <a:noFill/>
          <a:ln/>
        </p:spPr>
        <p:txBody>
          <a:bodyPr wrap="square" lIns="0" tIns="0" rIns="0" bIns="0" rtlCol="0" anchor="ctr"/>
          <a:lstStyle/>
          <a:p>
            <a:pPr marL="0" indent="0">
              <a:buNone/>
            </a:pPr>
            <a:r>
              <a:rPr lang="en-US" sz="1400" i="1" dirty="0">
                <a:solidFill>
                  <a:srgbClr val="767676"/>
                </a:solidFill>
                <a:latin typeface="Calibri" pitchFamily="34" charset="0"/>
                <a:ea typeface="Calibri" pitchFamily="34" charset="-122"/>
                <a:cs typeface="Calibri" pitchFamily="34" charset="-120"/>
              </a:rPr>
              <a:t>Same 498,147 comments, scored four ways</a:t>
            </a:r>
            <a:endParaRPr lang="en-US" sz="1400" dirty="0"/>
          </a:p>
        </p:txBody>
      </p:sp>
      <p:graphicFrame>
        <p:nvGraphicFramePr>
          <p:cNvPr id="4" name="Chart 0"/>
          <p:cNvGraphicFramePr/>
          <p:nvPr/>
        </p:nvGraphicFramePr>
        <p:xfrm>
          <a:off x="548640" y="1481328"/>
          <a:ext cx="7406640" cy="411480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p:nvPr/>
        </p:nvSpPr>
        <p:spPr>
          <a:xfrm>
            <a:off x="8229600" y="1600200"/>
            <a:ext cx="3383280" cy="548640"/>
          </a:xfrm>
          <a:prstGeom prst="rect">
            <a:avLst/>
          </a:prstGeom>
          <a:noFill/>
          <a:ln/>
        </p:spPr>
        <p:txBody>
          <a:bodyPr wrap="square" lIns="0" tIns="0" rIns="0" bIns="0" rtlCol="0" anchor="ctr"/>
          <a:lstStyle/>
          <a:p>
            <a:pPr marL="0" indent="0">
              <a:buNone/>
            </a:pPr>
            <a:r>
              <a:rPr lang="en-US" sz="3400" b="1" dirty="0">
                <a:solidFill>
                  <a:srgbClr val="B23B3B"/>
                </a:solidFill>
                <a:latin typeface="Cambria" pitchFamily="34" charset="0"/>
                <a:ea typeface="Cambria" pitchFamily="34" charset="-122"/>
                <a:cs typeface="Cambria" pitchFamily="34" charset="-120"/>
              </a:rPr>
              <a:t>39.9</a:t>
            </a:r>
            <a:endParaRPr lang="en-US" sz="3400" dirty="0"/>
          </a:p>
        </p:txBody>
      </p:sp>
      <p:sp>
        <p:nvSpPr>
          <p:cNvPr id="6" name="Text 3"/>
          <p:cNvSpPr/>
          <p:nvPr/>
        </p:nvSpPr>
        <p:spPr>
          <a:xfrm>
            <a:off x="8229600" y="2167128"/>
            <a:ext cx="3383280" cy="594360"/>
          </a:xfrm>
          <a:prstGeom prst="rect">
            <a:avLst/>
          </a:prstGeom>
          <a:noFill/>
          <a:ln/>
        </p:spPr>
        <p:txBody>
          <a:bodyPr wrap="square" lIns="0" tIns="0" rIns="0" bIns="0" rtlCol="0" anchor="ctr"/>
          <a:lstStyle/>
          <a:p>
            <a:pPr marL="0" indent="0">
              <a:lnSpc>
                <a:spcPts val="1400"/>
              </a:lnSpc>
              <a:buNone/>
            </a:pPr>
            <a:r>
              <a:rPr lang="en-US" sz="1200" dirty="0">
                <a:solidFill>
                  <a:srgbClr val="3D3D3D"/>
                </a:solidFill>
                <a:latin typeface="Calibri" pitchFamily="34" charset="0"/>
                <a:ea typeface="Calibri" pitchFamily="34" charset="-122"/>
                <a:cs typeface="Calibri" pitchFamily="34" charset="-120"/>
              </a:rPr>
              <a:t>point spread on the</a:t>
            </a:r>
            <a:endParaRPr lang="en-US" sz="1200" dirty="0"/>
          </a:p>
          <a:p>
            <a:pPr marL="0" indent="0">
              <a:lnSpc>
                <a:spcPts val="1400"/>
              </a:lnSpc>
              <a:buNone/>
            </a:pPr>
            <a:r>
              <a:rPr lang="en-US" sz="1200" dirty="0">
                <a:solidFill>
                  <a:srgbClr val="3D3D3D"/>
                </a:solidFill>
                <a:latin typeface="Calibri" pitchFamily="34" charset="0"/>
                <a:ea typeface="Calibri" pitchFamily="34" charset="-122"/>
                <a:cs typeface="Calibri" pitchFamily="34" charset="-120"/>
              </a:rPr>
              <a:t>negative class</a:t>
            </a:r>
            <a:endParaRPr lang="en-US" sz="1200" dirty="0"/>
          </a:p>
        </p:txBody>
      </p:sp>
      <p:sp>
        <p:nvSpPr>
          <p:cNvPr id="7" name="Text 4"/>
          <p:cNvSpPr/>
          <p:nvPr/>
        </p:nvSpPr>
        <p:spPr>
          <a:xfrm>
            <a:off x="8229600" y="2971800"/>
            <a:ext cx="3383280" cy="548640"/>
          </a:xfrm>
          <a:prstGeom prst="rect">
            <a:avLst/>
          </a:prstGeom>
          <a:noFill/>
          <a:ln/>
        </p:spPr>
        <p:txBody>
          <a:bodyPr wrap="square" lIns="0" tIns="0" rIns="0" bIns="0" rtlCol="0" anchor="ctr"/>
          <a:lstStyle/>
          <a:p>
            <a:pPr marL="0" indent="0">
              <a:buNone/>
            </a:pPr>
            <a:r>
              <a:rPr lang="en-US" sz="3400" b="1" dirty="0">
                <a:solidFill>
                  <a:srgbClr val="B23B3B"/>
                </a:solidFill>
                <a:latin typeface="Cambria" pitchFamily="34" charset="0"/>
                <a:ea typeface="Cambria" pitchFamily="34" charset="-122"/>
                <a:cs typeface="Cambria" pitchFamily="34" charset="-120"/>
              </a:rPr>
              <a:t>19.5%</a:t>
            </a:r>
            <a:endParaRPr lang="en-US" sz="3400" dirty="0"/>
          </a:p>
        </p:txBody>
      </p:sp>
      <p:sp>
        <p:nvSpPr>
          <p:cNvPr id="8" name="Text 5"/>
          <p:cNvSpPr/>
          <p:nvPr/>
        </p:nvSpPr>
        <p:spPr>
          <a:xfrm>
            <a:off x="8229600" y="3538728"/>
            <a:ext cx="3383280" cy="594360"/>
          </a:xfrm>
          <a:prstGeom prst="rect">
            <a:avLst/>
          </a:prstGeom>
          <a:noFill/>
          <a:ln/>
        </p:spPr>
        <p:txBody>
          <a:bodyPr wrap="square" lIns="0" tIns="0" rIns="0" bIns="0" rtlCol="0" anchor="ctr"/>
          <a:lstStyle/>
          <a:p>
            <a:pPr marL="0" indent="0">
              <a:lnSpc>
                <a:spcPts val="1400"/>
              </a:lnSpc>
              <a:buNone/>
            </a:pPr>
            <a:r>
              <a:rPr lang="en-US" sz="1200" dirty="0">
                <a:solidFill>
                  <a:srgbClr val="3D3D3D"/>
                </a:solidFill>
                <a:latin typeface="Calibri" pitchFamily="34" charset="0"/>
                <a:ea typeface="Calibri" pitchFamily="34" charset="-122"/>
                <a:cs typeface="Calibri" pitchFamily="34" charset="-120"/>
              </a:rPr>
              <a:t>of comments get the same</a:t>
            </a:r>
            <a:endParaRPr lang="en-US" sz="1200" dirty="0"/>
          </a:p>
          <a:p>
            <a:pPr marL="0" indent="0">
              <a:lnSpc>
                <a:spcPts val="1400"/>
              </a:lnSpc>
              <a:buNone/>
            </a:pPr>
            <a:r>
              <a:rPr lang="en-US" sz="1200" dirty="0">
                <a:solidFill>
                  <a:srgbClr val="3D3D3D"/>
                </a:solidFill>
                <a:latin typeface="Calibri" pitchFamily="34" charset="0"/>
                <a:ea typeface="Calibri" pitchFamily="34" charset="-122"/>
                <a:cs typeface="Calibri" pitchFamily="34" charset="-120"/>
              </a:rPr>
              <a:t>label from all four</a:t>
            </a:r>
            <a:endParaRPr lang="en-US" sz="1200" dirty="0"/>
          </a:p>
        </p:txBody>
      </p:sp>
      <p:sp>
        <p:nvSpPr>
          <p:cNvPr id="9" name="Text 6"/>
          <p:cNvSpPr/>
          <p:nvPr/>
        </p:nvSpPr>
        <p:spPr>
          <a:xfrm>
            <a:off x="8229600" y="4343400"/>
            <a:ext cx="3383280" cy="548640"/>
          </a:xfrm>
          <a:prstGeom prst="rect">
            <a:avLst/>
          </a:prstGeom>
          <a:noFill/>
          <a:ln/>
        </p:spPr>
        <p:txBody>
          <a:bodyPr wrap="square" lIns="0" tIns="0" rIns="0" bIns="0" rtlCol="0" anchor="ctr"/>
          <a:lstStyle/>
          <a:p>
            <a:pPr marL="0" indent="0">
              <a:buNone/>
            </a:pPr>
            <a:r>
              <a:rPr lang="en-US" sz="3400" b="1" dirty="0">
                <a:solidFill>
                  <a:srgbClr val="B23B3B"/>
                </a:solidFill>
                <a:latin typeface="Cambria" pitchFamily="34" charset="0"/>
                <a:ea typeface="Cambria" pitchFamily="34" charset="-122"/>
                <a:cs typeface="Cambria" pitchFamily="34" charset="-120"/>
              </a:rPr>
              <a:t>23.5%</a:t>
            </a:r>
            <a:endParaRPr lang="en-US" sz="3400" dirty="0"/>
          </a:p>
        </p:txBody>
      </p:sp>
      <p:sp>
        <p:nvSpPr>
          <p:cNvPr id="10" name="Text 7"/>
          <p:cNvSpPr/>
          <p:nvPr/>
        </p:nvSpPr>
        <p:spPr>
          <a:xfrm>
            <a:off x="8229600" y="4910328"/>
            <a:ext cx="3383280" cy="594360"/>
          </a:xfrm>
          <a:prstGeom prst="rect">
            <a:avLst/>
          </a:prstGeom>
          <a:noFill/>
          <a:ln/>
        </p:spPr>
        <p:txBody>
          <a:bodyPr wrap="square" lIns="0" tIns="0" rIns="0" bIns="0" rtlCol="0" anchor="ctr"/>
          <a:lstStyle/>
          <a:p>
            <a:pPr marL="0" indent="0">
              <a:lnSpc>
                <a:spcPts val="1400"/>
              </a:lnSpc>
              <a:buNone/>
            </a:pPr>
            <a:r>
              <a:rPr lang="en-US" sz="1200" dirty="0">
                <a:solidFill>
                  <a:srgbClr val="3D3D3D"/>
                </a:solidFill>
                <a:latin typeface="Calibri" pitchFamily="34" charset="0"/>
                <a:ea typeface="Calibri" pitchFamily="34" charset="-122"/>
                <a:cs typeface="Calibri" pitchFamily="34" charset="-120"/>
              </a:rPr>
              <a:t>get every possible label</a:t>
            </a:r>
            <a:endParaRPr lang="en-US" sz="1200" dirty="0"/>
          </a:p>
          <a:p>
            <a:pPr marL="0" indent="0">
              <a:lnSpc>
                <a:spcPts val="1400"/>
              </a:lnSpc>
              <a:buNone/>
            </a:pPr>
            <a:r>
              <a:rPr lang="en-US" sz="1200" dirty="0">
                <a:solidFill>
                  <a:srgbClr val="3D3D3D"/>
                </a:solidFill>
                <a:latin typeface="Calibri" pitchFamily="34" charset="0"/>
                <a:ea typeface="Calibri" pitchFamily="34" charset="-122"/>
                <a:cs typeface="Calibri" pitchFamily="34" charset="-120"/>
              </a:rPr>
              <a:t>across the four</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384048"/>
            <a:ext cx="11091672" cy="566928"/>
          </a:xfrm>
          <a:prstGeom prst="rect">
            <a:avLst/>
          </a:prstGeom>
          <a:noFill/>
          <a:ln/>
        </p:spPr>
        <p:txBody>
          <a:bodyPr wrap="square" lIns="0" tIns="0" rIns="0" bIns="0" rtlCol="0" anchor="ctr"/>
          <a:lstStyle/>
          <a:p>
            <a:pPr marL="0" indent="0">
              <a:buNone/>
            </a:pPr>
            <a:r>
              <a:rPr lang="en-US" sz="3000" b="1" dirty="0">
                <a:solidFill>
                  <a:srgbClr val="1A1A1A"/>
                </a:solidFill>
                <a:latin typeface="Cambria" pitchFamily="34" charset="0"/>
                <a:ea typeface="Cambria" pitchFamily="34" charset="-122"/>
                <a:cs typeface="Cambria" pitchFamily="34" charset="-120"/>
              </a:rPr>
              <a:t>Why the lexicons look neutral</a:t>
            </a:r>
            <a:endParaRPr lang="en-US" sz="3000" dirty="0"/>
          </a:p>
        </p:txBody>
      </p:sp>
      <p:sp>
        <p:nvSpPr>
          <p:cNvPr id="3" name="Text 1"/>
          <p:cNvSpPr/>
          <p:nvPr/>
        </p:nvSpPr>
        <p:spPr>
          <a:xfrm>
            <a:off x="548640" y="950976"/>
            <a:ext cx="11091672" cy="310896"/>
          </a:xfrm>
          <a:prstGeom prst="rect">
            <a:avLst/>
          </a:prstGeom>
          <a:noFill/>
          <a:ln/>
        </p:spPr>
        <p:txBody>
          <a:bodyPr wrap="square" lIns="0" tIns="0" rIns="0" bIns="0" rtlCol="0" anchor="ctr"/>
          <a:lstStyle/>
          <a:p>
            <a:pPr marL="0" indent="0">
              <a:buNone/>
            </a:pPr>
            <a:r>
              <a:rPr lang="en-US" sz="1400" i="1" dirty="0">
                <a:solidFill>
                  <a:srgbClr val="767676"/>
                </a:solidFill>
                <a:latin typeface="Calibri" pitchFamily="34" charset="0"/>
                <a:ea typeface="Calibri" pitchFamily="34" charset="-122"/>
                <a:cs typeface="Calibri" pitchFamily="34" charset="-120"/>
              </a:rPr>
              <a:t>Most of their neutral labels are non-answers</a:t>
            </a:r>
            <a:endParaRPr lang="en-US" sz="1400" dirty="0"/>
          </a:p>
        </p:txBody>
      </p:sp>
      <p:sp>
        <p:nvSpPr>
          <p:cNvPr id="4" name="Text 2"/>
          <p:cNvSpPr/>
          <p:nvPr/>
        </p:nvSpPr>
        <p:spPr>
          <a:xfrm>
            <a:off x="548640" y="1417320"/>
            <a:ext cx="6766560" cy="822960"/>
          </a:xfrm>
          <a:prstGeom prst="rect">
            <a:avLst/>
          </a:prstGeom>
          <a:noFill/>
          <a:ln/>
        </p:spPr>
        <p:txBody>
          <a:bodyPr wrap="square" lIns="0" tIns="0" rIns="0" bIns="0" rtlCol="0" anchor="ctr"/>
          <a:lstStyle/>
          <a:p>
            <a:pPr marL="0" indent="0">
              <a:lnSpc>
                <a:spcPts val="2100"/>
              </a:lnSpc>
              <a:buNone/>
            </a:pPr>
            <a:r>
              <a:rPr lang="en-US" sz="1500" dirty="0">
                <a:solidFill>
                  <a:srgbClr val="3D3D3D"/>
                </a:solidFill>
                <a:latin typeface="Calibri" pitchFamily="34" charset="0"/>
                <a:ea typeface="Calibri" pitchFamily="34" charset="-122"/>
                <a:cs typeface="Calibri" pitchFamily="34" charset="-120"/>
              </a:rPr>
              <a:t>TextBlob and VADER return a score of exactly zero when no word in a comment appears in their dictionary. That result is recorded as "neutral" — indistinguishable from a genuine judgment that a comment is balanced.</a:t>
            </a:r>
            <a:endParaRPr lang="en-US" sz="15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2487168"/>
          <a:ext cx="6766560" cy="1249680"/>
        </p:xfrm>
        <a:graphic>
          <a:graphicData uri="http://schemas.openxmlformats.org/drawingml/2006/table">
            <a:tbl>
              <a:tblPr/>
              <a:tblGrid>
                <a:gridCol w="155448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tblGrid>
              <a:tr h="0">
                <a:tc>
                  <a:txBody>
                    <a:bodyPr/>
                    <a:lstStyle/>
                    <a:p>
                      <a:pPr marL="0" indent="0" algn="l">
                        <a:buNone/>
                      </a:pPr>
                      <a:endParaRPr lang="en-US" sz="1300" dirty="0">
                        <a:latin typeface="Calibri" charset="0"/>
                        <a:ea typeface="Calibri" charset="0"/>
                        <a:cs typeface="Calibri" charset="0"/>
                      </a:endParaRPr>
                    </a:p>
                  </a:txBody>
                  <a:tcPr marL="101600" marR="101600" marT="76200" marB="762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4F4F4"/>
                    </a:solidFill>
                  </a:tcPr>
                </a:tc>
                <a:tc>
                  <a:txBody>
                    <a:bodyPr/>
                    <a:lstStyle/>
                    <a:p>
                      <a:pPr marL="0" indent="0" algn="r">
                        <a:buNone/>
                      </a:pPr>
                      <a:r>
                        <a:rPr lang="en-US" sz="1300" b="1" dirty="0">
                          <a:solidFill>
                            <a:srgbClr val="1A1A1A"/>
                          </a:solidFill>
                          <a:latin typeface="Calibri" pitchFamily="34" charset="0"/>
                          <a:ea typeface="Calibri" pitchFamily="34" charset="-122"/>
                          <a:cs typeface="Calibri" pitchFamily="34" charset="-120"/>
                        </a:rPr>
                        <a:t>Labelled neutral</a:t>
                      </a:r>
                      <a:endParaRPr lang="en-US" sz="1300" dirty="0">
                        <a:latin typeface="Calibri" charset="0"/>
                        <a:ea typeface="Calibri" charset="0"/>
                        <a:cs typeface="Calibri" charset="0"/>
                      </a:endParaRPr>
                    </a:p>
                  </a:txBody>
                  <a:tcPr marL="101600" marR="101600" marT="76200" marB="762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4F4F4"/>
                    </a:solidFill>
                  </a:tcPr>
                </a:tc>
                <a:tc>
                  <a:txBody>
                    <a:bodyPr/>
                    <a:lstStyle/>
                    <a:p>
                      <a:pPr marL="0" indent="0" algn="r">
                        <a:buNone/>
                      </a:pPr>
                      <a:r>
                        <a:rPr lang="en-US" sz="1300" b="1" dirty="0">
                          <a:solidFill>
                            <a:srgbClr val="1A1A1A"/>
                          </a:solidFill>
                          <a:latin typeface="Calibri" pitchFamily="34" charset="0"/>
                          <a:ea typeface="Calibri" pitchFamily="34" charset="-122"/>
                          <a:cs typeface="Calibri" pitchFamily="34" charset="-120"/>
                        </a:rPr>
                        <a:t>Of those, exactly zero</a:t>
                      </a:r>
                      <a:endParaRPr lang="en-US" sz="1300" dirty="0">
                        <a:latin typeface="Calibri" charset="0"/>
                        <a:ea typeface="Calibri" charset="0"/>
                        <a:cs typeface="Calibri" charset="0"/>
                      </a:endParaRPr>
                    </a:p>
                  </a:txBody>
                  <a:tcPr marL="101600" marR="101600" marT="76200" marB="762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4F4F4"/>
                    </a:solidFill>
                  </a:tcPr>
                </a:tc>
                <a:tc>
                  <a:txBody>
                    <a:bodyPr/>
                    <a:lstStyle/>
                    <a:p>
                      <a:pPr marL="0" indent="0" algn="r">
                        <a:buNone/>
                      </a:pPr>
                      <a:r>
                        <a:rPr lang="en-US" sz="1300" b="1" dirty="0">
                          <a:solidFill>
                            <a:srgbClr val="1A1A1A"/>
                          </a:solidFill>
                          <a:latin typeface="Calibri" pitchFamily="34" charset="0"/>
                          <a:ea typeface="Calibri" pitchFamily="34" charset="-122"/>
                          <a:cs typeface="Calibri" pitchFamily="34" charset="-120"/>
                        </a:rPr>
                        <a:t>Genuine judgments</a:t>
                      </a:r>
                      <a:endParaRPr lang="en-US" sz="1300" dirty="0">
                        <a:latin typeface="Calibri" charset="0"/>
                        <a:ea typeface="Calibri" charset="0"/>
                        <a:cs typeface="Calibri" charset="0"/>
                      </a:endParaRPr>
                    </a:p>
                  </a:txBody>
                  <a:tcPr marL="101600" marR="101600" marT="76200" marB="762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4F4F4"/>
                    </a:solidFill>
                  </a:tcPr>
                </a:tc>
                <a:extLst>
                  <a:ext uri="{0D108BD9-81ED-4DB2-BD59-A6C34878D82A}">
                    <a16:rowId xmlns:a16="http://schemas.microsoft.com/office/drawing/2014/main" val="10000"/>
                  </a:ext>
                </a:extLst>
              </a:tr>
              <a:tr h="0">
                <a:tc>
                  <a:txBody>
                    <a:bodyPr/>
                    <a:lstStyle/>
                    <a:p>
                      <a:pPr marL="0" indent="0" algn="l">
                        <a:buNone/>
                      </a:pPr>
                      <a:r>
                        <a:rPr lang="en-US" sz="1300" b="1" dirty="0">
                          <a:solidFill>
                            <a:srgbClr val="3D3D3D"/>
                          </a:solidFill>
                          <a:latin typeface="Calibri" pitchFamily="34" charset="0"/>
                          <a:ea typeface="Calibri" pitchFamily="34" charset="-122"/>
                          <a:cs typeface="Calibri" pitchFamily="34" charset="-120"/>
                        </a:rPr>
                        <a:t>TextBlob</a:t>
                      </a:r>
                      <a:endParaRPr lang="en-US" sz="1300" dirty="0">
                        <a:latin typeface="Calibri" charset="0"/>
                        <a:ea typeface="Calibri" charset="0"/>
                        <a:cs typeface="Calibri" charset="0"/>
                      </a:endParaRPr>
                    </a:p>
                  </a:txBody>
                  <a:tcPr marL="101600" marR="101600" marT="76200" marB="762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tcPr>
                </a:tc>
                <a:tc>
                  <a:txBody>
                    <a:bodyPr/>
                    <a:lstStyle/>
                    <a:p>
                      <a:pPr marL="0" indent="0" algn="r">
                        <a:buNone/>
                      </a:pPr>
                      <a:r>
                        <a:rPr lang="en-US" sz="1300" dirty="0">
                          <a:solidFill>
                            <a:srgbClr val="3D3D3D"/>
                          </a:solidFill>
                          <a:latin typeface="Calibri" pitchFamily="34" charset="0"/>
                          <a:ea typeface="Calibri" pitchFamily="34" charset="-122"/>
                          <a:cs typeface="Calibri" pitchFamily="34" charset="-120"/>
                        </a:rPr>
                        <a:t>34.5%</a:t>
                      </a:r>
                      <a:endParaRPr lang="en-US" sz="1300" dirty="0">
                        <a:latin typeface="Calibri" charset="0"/>
                        <a:ea typeface="Calibri" charset="0"/>
                        <a:cs typeface="Calibri" charset="0"/>
                      </a:endParaRPr>
                    </a:p>
                  </a:txBody>
                  <a:tcPr marL="101600" marR="101600" marT="76200" marB="762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tcPr>
                </a:tc>
                <a:tc>
                  <a:txBody>
                    <a:bodyPr/>
                    <a:lstStyle/>
                    <a:p>
                      <a:pPr marL="0" indent="0" algn="r">
                        <a:buNone/>
                      </a:pPr>
                      <a:r>
                        <a:rPr lang="en-US" sz="1300" b="1" dirty="0">
                          <a:solidFill>
                            <a:srgbClr val="B23B3B"/>
                          </a:solidFill>
                          <a:latin typeface="Calibri" pitchFamily="34" charset="0"/>
                          <a:ea typeface="Calibri" pitchFamily="34" charset="-122"/>
                          <a:cs typeface="Calibri" pitchFamily="34" charset="-120"/>
                        </a:rPr>
                        <a:t>75.4%</a:t>
                      </a:r>
                      <a:endParaRPr lang="en-US" sz="1300" dirty="0">
                        <a:latin typeface="Calibri" charset="0"/>
                        <a:ea typeface="Calibri" charset="0"/>
                        <a:cs typeface="Calibri" charset="0"/>
                      </a:endParaRPr>
                    </a:p>
                  </a:txBody>
                  <a:tcPr marL="101600" marR="101600" marT="76200" marB="762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tcPr>
                </a:tc>
                <a:tc>
                  <a:txBody>
                    <a:bodyPr/>
                    <a:lstStyle/>
                    <a:p>
                      <a:pPr marL="0" indent="0" algn="r">
                        <a:buNone/>
                      </a:pPr>
                      <a:r>
                        <a:rPr lang="en-US" sz="1300" dirty="0">
                          <a:solidFill>
                            <a:srgbClr val="3D3D3D"/>
                          </a:solidFill>
                          <a:latin typeface="Calibri" pitchFamily="34" charset="0"/>
                          <a:ea typeface="Calibri" pitchFamily="34" charset="-122"/>
                          <a:cs typeface="Calibri" pitchFamily="34" charset="-120"/>
                        </a:rPr>
                        <a:t>8.5%</a:t>
                      </a:r>
                      <a:endParaRPr lang="en-US" sz="1300" dirty="0">
                        <a:latin typeface="Calibri" charset="0"/>
                        <a:ea typeface="Calibri" charset="0"/>
                        <a:cs typeface="Calibri" charset="0"/>
                      </a:endParaRPr>
                    </a:p>
                  </a:txBody>
                  <a:tcPr marL="101600" marR="101600" marT="76200" marB="762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lgn="l">
                        <a:buNone/>
                      </a:pPr>
                      <a:r>
                        <a:rPr lang="en-US" sz="1300" b="1" dirty="0">
                          <a:solidFill>
                            <a:srgbClr val="3D3D3D"/>
                          </a:solidFill>
                          <a:latin typeface="Calibri" pitchFamily="34" charset="0"/>
                          <a:ea typeface="Calibri" pitchFamily="34" charset="-122"/>
                          <a:cs typeface="Calibri" pitchFamily="34" charset="-120"/>
                        </a:rPr>
                        <a:t>VADER</a:t>
                      </a:r>
                      <a:endParaRPr lang="en-US" sz="1300" dirty="0">
                        <a:latin typeface="Calibri" charset="0"/>
                        <a:ea typeface="Calibri" charset="0"/>
                        <a:cs typeface="Calibri" charset="0"/>
                      </a:endParaRPr>
                    </a:p>
                  </a:txBody>
                  <a:tcPr marL="101600" marR="101600" marT="76200" marB="762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tcPr>
                </a:tc>
                <a:tc>
                  <a:txBody>
                    <a:bodyPr/>
                    <a:lstStyle/>
                    <a:p>
                      <a:pPr marL="0" indent="0" algn="r">
                        <a:buNone/>
                      </a:pPr>
                      <a:r>
                        <a:rPr lang="en-US" sz="1300" dirty="0">
                          <a:solidFill>
                            <a:srgbClr val="3D3D3D"/>
                          </a:solidFill>
                          <a:latin typeface="Calibri" pitchFamily="34" charset="0"/>
                          <a:ea typeface="Calibri" pitchFamily="34" charset="-122"/>
                          <a:cs typeface="Calibri" pitchFamily="34" charset="-120"/>
                        </a:rPr>
                        <a:t>22.7%</a:t>
                      </a:r>
                      <a:endParaRPr lang="en-US" sz="1300" dirty="0">
                        <a:latin typeface="Calibri" charset="0"/>
                        <a:ea typeface="Calibri" charset="0"/>
                        <a:cs typeface="Calibri" charset="0"/>
                      </a:endParaRPr>
                    </a:p>
                  </a:txBody>
                  <a:tcPr marL="101600" marR="101600" marT="76200" marB="762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tcPr>
                </a:tc>
                <a:tc>
                  <a:txBody>
                    <a:bodyPr/>
                    <a:lstStyle/>
                    <a:p>
                      <a:pPr marL="0" indent="0" algn="r">
                        <a:buNone/>
                      </a:pPr>
                      <a:r>
                        <a:rPr lang="en-US" sz="1300" b="1" dirty="0">
                          <a:solidFill>
                            <a:srgbClr val="B23B3B"/>
                          </a:solidFill>
                          <a:latin typeface="Calibri" pitchFamily="34" charset="0"/>
                          <a:ea typeface="Calibri" pitchFamily="34" charset="-122"/>
                          <a:cs typeface="Calibri" pitchFamily="34" charset="-120"/>
                        </a:rPr>
                        <a:t>92.6%</a:t>
                      </a:r>
                      <a:endParaRPr lang="en-US" sz="1300" dirty="0">
                        <a:latin typeface="Calibri" charset="0"/>
                        <a:ea typeface="Calibri" charset="0"/>
                        <a:cs typeface="Calibri" charset="0"/>
                      </a:endParaRPr>
                    </a:p>
                  </a:txBody>
                  <a:tcPr marL="101600" marR="101600" marT="76200" marB="762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tcPr>
                </a:tc>
                <a:tc>
                  <a:txBody>
                    <a:bodyPr/>
                    <a:lstStyle/>
                    <a:p>
                      <a:pPr marL="0" indent="0" algn="r">
                        <a:buNone/>
                      </a:pPr>
                      <a:r>
                        <a:rPr lang="en-US" sz="1300" dirty="0">
                          <a:solidFill>
                            <a:srgbClr val="3D3D3D"/>
                          </a:solidFill>
                          <a:latin typeface="Calibri" pitchFamily="34" charset="0"/>
                          <a:ea typeface="Calibri" pitchFamily="34" charset="-122"/>
                          <a:cs typeface="Calibri" pitchFamily="34" charset="-120"/>
                        </a:rPr>
                        <a:t>1.7%</a:t>
                      </a:r>
                      <a:endParaRPr lang="en-US" sz="1300" dirty="0">
                        <a:latin typeface="Calibri" charset="0"/>
                        <a:ea typeface="Calibri" charset="0"/>
                        <a:cs typeface="Calibri" charset="0"/>
                      </a:endParaRPr>
                    </a:p>
                  </a:txBody>
                  <a:tcPr marL="101600" marR="101600" marT="76200" marB="762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6" name="Shape 3"/>
          <p:cNvSpPr/>
          <p:nvPr/>
        </p:nvSpPr>
        <p:spPr>
          <a:xfrm>
            <a:off x="7635240" y="1417320"/>
            <a:ext cx="4005072" cy="2606040"/>
          </a:xfrm>
          <a:prstGeom prst="roundRect">
            <a:avLst>
              <a:gd name="adj" fmla="val 1754"/>
            </a:avLst>
          </a:prstGeom>
          <a:solidFill>
            <a:srgbClr val="F4F4F4"/>
          </a:solidFill>
          <a:ln w="9525">
            <a:solidFill>
              <a:srgbClr val="D8D8D8"/>
            </a:solidFill>
            <a:prstDash val="solid"/>
          </a:ln>
        </p:spPr>
        <p:txBody>
          <a:bodyPr/>
          <a:lstStyle/>
          <a:p>
            <a:endParaRPr lang="en-US"/>
          </a:p>
        </p:txBody>
      </p:sp>
      <p:sp>
        <p:nvSpPr>
          <p:cNvPr id="7" name="Text 4"/>
          <p:cNvSpPr/>
          <p:nvPr/>
        </p:nvSpPr>
        <p:spPr>
          <a:xfrm>
            <a:off x="7955280" y="1691640"/>
            <a:ext cx="3383280" cy="777240"/>
          </a:xfrm>
          <a:prstGeom prst="rect">
            <a:avLst/>
          </a:prstGeom>
          <a:noFill/>
          <a:ln/>
        </p:spPr>
        <p:txBody>
          <a:bodyPr wrap="square" lIns="0" tIns="0" rIns="0" bIns="0" rtlCol="0" anchor="ctr"/>
          <a:lstStyle/>
          <a:p>
            <a:pPr marL="0" indent="0">
              <a:buNone/>
            </a:pPr>
            <a:r>
              <a:rPr lang="en-US" sz="4400" b="1" dirty="0">
                <a:solidFill>
                  <a:srgbClr val="B23B3B"/>
                </a:solidFill>
                <a:latin typeface="Cambria" pitchFamily="34" charset="0"/>
                <a:ea typeface="Cambria" pitchFamily="34" charset="-122"/>
                <a:cs typeface="Cambria" pitchFamily="34" charset="-120"/>
              </a:rPr>
              <a:t>1.7%</a:t>
            </a:r>
            <a:endParaRPr lang="en-US" sz="4400" dirty="0"/>
          </a:p>
        </p:txBody>
      </p:sp>
      <p:sp>
        <p:nvSpPr>
          <p:cNvPr id="8" name="Text 5"/>
          <p:cNvSpPr/>
          <p:nvPr/>
        </p:nvSpPr>
        <p:spPr>
          <a:xfrm>
            <a:off x="7955280" y="2542032"/>
            <a:ext cx="3383280" cy="1188720"/>
          </a:xfrm>
          <a:prstGeom prst="rect">
            <a:avLst/>
          </a:prstGeom>
          <a:noFill/>
          <a:ln/>
        </p:spPr>
        <p:txBody>
          <a:bodyPr wrap="square" lIns="0" tIns="0" rIns="0" bIns="0" rtlCol="0" anchor="ctr"/>
          <a:lstStyle/>
          <a:p>
            <a:pPr marL="0" indent="0">
              <a:lnSpc>
                <a:spcPts val="1700"/>
              </a:lnSpc>
              <a:buNone/>
            </a:pPr>
            <a:r>
              <a:rPr lang="en-US" sz="1300" dirty="0">
                <a:solidFill>
                  <a:srgbClr val="3D3D3D"/>
                </a:solidFill>
                <a:latin typeface="Calibri" pitchFamily="34" charset="0"/>
                <a:ea typeface="Calibri" pitchFamily="34" charset="-122"/>
                <a:cs typeface="Calibri" pitchFamily="34" charset="-120"/>
              </a:rPr>
              <a:t>of the corpus is genuine neutral sentiment under VADER. It is effectively a two-class method with a large bin of unread text attached.</a:t>
            </a:r>
            <a:endParaRPr lang="en-US" sz="1300" dirty="0"/>
          </a:p>
        </p:txBody>
      </p:sp>
      <p:sp>
        <p:nvSpPr>
          <p:cNvPr id="9" name="Text 6"/>
          <p:cNvSpPr/>
          <p:nvPr/>
        </p:nvSpPr>
        <p:spPr>
          <a:xfrm>
            <a:off x="548640" y="4224528"/>
            <a:ext cx="6766560" cy="640080"/>
          </a:xfrm>
          <a:prstGeom prst="rect">
            <a:avLst/>
          </a:prstGeom>
          <a:noFill/>
          <a:ln/>
        </p:spPr>
        <p:txBody>
          <a:bodyPr wrap="square" lIns="0" tIns="0" rIns="0" bIns="0" rtlCol="0" anchor="ctr"/>
          <a:lstStyle/>
          <a:p>
            <a:pPr marL="0" indent="0">
              <a:lnSpc>
                <a:spcPts val="2000"/>
              </a:lnSpc>
              <a:buNone/>
            </a:pPr>
            <a:r>
              <a:rPr lang="en-US" sz="1400" dirty="0">
                <a:solidFill>
                  <a:srgbClr val="3D3D3D"/>
                </a:solidFill>
                <a:latin typeface="Calibri" pitchFamily="34" charset="0"/>
                <a:ea typeface="Calibri" pitchFamily="34" charset="-122"/>
                <a:cs typeface="Calibri" pitchFamily="34" charset="-120"/>
              </a:rPr>
              <a:t>For comparison: hand-labelling puts genuinely neutral content at 37% of the corpus. Neither lexicon method finds it reliably.</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863BC61-1B15-6767-26BC-C889198A0586}"/>
              </a:ext>
            </a:extLst>
          </p:cNvPr>
          <p:cNvPicPr>
            <a:picLocks noChangeAspect="1"/>
          </p:cNvPicPr>
          <p:nvPr/>
        </p:nvPicPr>
        <p:blipFill>
          <a:blip r:embed="rId3"/>
          <a:stretch>
            <a:fillRect/>
          </a:stretch>
        </p:blipFill>
        <p:spPr>
          <a:xfrm>
            <a:off x="1158418" y="1333704"/>
            <a:ext cx="5673205" cy="4783988"/>
          </a:xfrm>
          <a:prstGeom prst="rect">
            <a:avLst/>
          </a:prstGeom>
          <a:ln>
            <a:solidFill>
              <a:schemeClr val="tx1"/>
            </a:solidFill>
          </a:ln>
        </p:spPr>
      </p:pic>
      <p:sp>
        <p:nvSpPr>
          <p:cNvPr id="5" name="Text 0">
            <a:extLst>
              <a:ext uri="{FF2B5EF4-FFF2-40B4-BE49-F238E27FC236}">
                <a16:creationId xmlns:a16="http://schemas.microsoft.com/office/drawing/2014/main" id="{E262FB4E-2AF5-AB3D-9CBA-C37D23C366F3}"/>
              </a:ext>
            </a:extLst>
          </p:cNvPr>
          <p:cNvSpPr/>
          <p:nvPr/>
        </p:nvSpPr>
        <p:spPr>
          <a:xfrm>
            <a:off x="548640" y="384048"/>
            <a:ext cx="11091672" cy="566928"/>
          </a:xfrm>
          <a:prstGeom prst="rect">
            <a:avLst/>
          </a:prstGeom>
          <a:noFill/>
          <a:ln/>
        </p:spPr>
        <p:txBody>
          <a:bodyPr wrap="square" lIns="0" tIns="0" rIns="0" bIns="0" rtlCol="0" anchor="ctr"/>
          <a:lstStyle/>
          <a:p>
            <a:pPr marL="0" indent="0">
              <a:buNone/>
            </a:pPr>
            <a:r>
              <a:rPr lang="en-US" sz="3000" b="1" dirty="0">
                <a:solidFill>
                  <a:srgbClr val="1A1A1A"/>
                </a:solidFill>
                <a:latin typeface="Cambria" pitchFamily="34" charset="0"/>
                <a:ea typeface="Cambria" pitchFamily="34" charset="-122"/>
              </a:rPr>
              <a:t>Raw Agreement Heatmap</a:t>
            </a:r>
            <a:endParaRPr lang="en-US" sz="3000" dirty="0"/>
          </a:p>
        </p:txBody>
      </p:sp>
      <p:pic>
        <p:nvPicPr>
          <p:cNvPr id="7" name="Picture 6">
            <a:extLst>
              <a:ext uri="{FF2B5EF4-FFF2-40B4-BE49-F238E27FC236}">
                <a16:creationId xmlns:a16="http://schemas.microsoft.com/office/drawing/2014/main" id="{4605D9DC-597E-841B-EA6B-8C049879768E}"/>
              </a:ext>
            </a:extLst>
          </p:cNvPr>
          <p:cNvPicPr>
            <a:picLocks noChangeAspect="1"/>
          </p:cNvPicPr>
          <p:nvPr/>
        </p:nvPicPr>
        <p:blipFill>
          <a:blip r:embed="rId4"/>
          <a:stretch>
            <a:fillRect/>
          </a:stretch>
        </p:blipFill>
        <p:spPr>
          <a:xfrm>
            <a:off x="7836359" y="1995854"/>
            <a:ext cx="3065338" cy="3373234"/>
          </a:xfrm>
          <a:prstGeom prst="rect">
            <a:avLst/>
          </a:prstGeom>
        </p:spPr>
      </p:pic>
    </p:spTree>
    <p:extLst>
      <p:ext uri="{BB962C8B-B14F-4D97-AF65-F5344CB8AC3E}">
        <p14:creationId xmlns:p14="http://schemas.microsoft.com/office/powerpoint/2010/main" val="26545021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27E7737-4EF5-2FF4-B286-EC094134C494}"/>
              </a:ext>
            </a:extLst>
          </p:cNvPr>
          <p:cNvPicPr>
            <a:picLocks noChangeAspect="1"/>
          </p:cNvPicPr>
          <p:nvPr/>
        </p:nvPicPr>
        <p:blipFill>
          <a:blip r:embed="rId3"/>
          <a:stretch>
            <a:fillRect/>
          </a:stretch>
        </p:blipFill>
        <p:spPr>
          <a:xfrm>
            <a:off x="931986" y="1213339"/>
            <a:ext cx="6004299" cy="5071135"/>
          </a:xfrm>
          <a:prstGeom prst="rect">
            <a:avLst/>
          </a:prstGeom>
          <a:ln>
            <a:solidFill>
              <a:schemeClr val="tx1"/>
            </a:solidFill>
          </a:ln>
        </p:spPr>
      </p:pic>
      <p:sp>
        <p:nvSpPr>
          <p:cNvPr id="5" name="Text 0">
            <a:extLst>
              <a:ext uri="{FF2B5EF4-FFF2-40B4-BE49-F238E27FC236}">
                <a16:creationId xmlns:a16="http://schemas.microsoft.com/office/drawing/2014/main" id="{8B1B7D86-834F-1A14-3494-05FCB5A62301}"/>
              </a:ext>
            </a:extLst>
          </p:cNvPr>
          <p:cNvSpPr/>
          <p:nvPr/>
        </p:nvSpPr>
        <p:spPr>
          <a:xfrm>
            <a:off x="548640" y="384048"/>
            <a:ext cx="11091672" cy="566928"/>
          </a:xfrm>
          <a:prstGeom prst="rect">
            <a:avLst/>
          </a:prstGeom>
          <a:noFill/>
          <a:ln/>
        </p:spPr>
        <p:txBody>
          <a:bodyPr wrap="square" lIns="0" tIns="0" rIns="0" bIns="0" rtlCol="0" anchor="ctr"/>
          <a:lstStyle/>
          <a:p>
            <a:pPr marL="0" indent="0">
              <a:buNone/>
            </a:pPr>
            <a:r>
              <a:rPr lang="en-US" sz="3000" b="1" dirty="0">
                <a:solidFill>
                  <a:srgbClr val="1A1A1A"/>
                </a:solidFill>
                <a:latin typeface="Cambria" pitchFamily="34" charset="0"/>
                <a:ea typeface="Cambria" pitchFamily="34" charset="-122"/>
                <a:cs typeface="Cambria" pitchFamily="34" charset="-120"/>
              </a:rPr>
              <a:t>Cohen’s Kappa Heatmap</a:t>
            </a:r>
            <a:endParaRPr lang="en-US" sz="3000" dirty="0"/>
          </a:p>
        </p:txBody>
      </p:sp>
      <p:pic>
        <p:nvPicPr>
          <p:cNvPr id="7" name="Picture 6">
            <a:extLst>
              <a:ext uri="{FF2B5EF4-FFF2-40B4-BE49-F238E27FC236}">
                <a16:creationId xmlns:a16="http://schemas.microsoft.com/office/drawing/2014/main" id="{49BA9FFB-A461-1A6C-5BE4-BD42F0FEC9D4}"/>
              </a:ext>
            </a:extLst>
          </p:cNvPr>
          <p:cNvPicPr>
            <a:picLocks noChangeAspect="1"/>
          </p:cNvPicPr>
          <p:nvPr/>
        </p:nvPicPr>
        <p:blipFill>
          <a:blip r:embed="rId4"/>
          <a:stretch>
            <a:fillRect/>
          </a:stretch>
        </p:blipFill>
        <p:spPr>
          <a:xfrm>
            <a:off x="8030522" y="1999739"/>
            <a:ext cx="3242648" cy="3099799"/>
          </a:xfrm>
          <a:prstGeom prst="rect">
            <a:avLst/>
          </a:prstGeom>
        </p:spPr>
      </p:pic>
    </p:spTree>
    <p:extLst>
      <p:ext uri="{BB962C8B-B14F-4D97-AF65-F5344CB8AC3E}">
        <p14:creationId xmlns:p14="http://schemas.microsoft.com/office/powerpoint/2010/main" val="19320122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384048"/>
            <a:ext cx="11091672" cy="566928"/>
          </a:xfrm>
          <a:prstGeom prst="rect">
            <a:avLst/>
          </a:prstGeom>
          <a:noFill/>
          <a:ln/>
        </p:spPr>
        <p:txBody>
          <a:bodyPr wrap="square" lIns="0" tIns="0" rIns="0" bIns="0" rtlCol="0" anchor="ctr"/>
          <a:lstStyle/>
          <a:p>
            <a:pPr marL="0" indent="0">
              <a:buNone/>
            </a:pPr>
            <a:r>
              <a:rPr lang="en-US" sz="3000" b="1" dirty="0">
                <a:solidFill>
                  <a:srgbClr val="1A1A1A"/>
                </a:solidFill>
                <a:latin typeface="Cambria" pitchFamily="34" charset="0"/>
                <a:ea typeface="Cambria" pitchFamily="34" charset="-122"/>
                <a:cs typeface="Cambria" pitchFamily="34" charset="-120"/>
              </a:rPr>
              <a:t>Raw Agreement follows negativity, not model type</a:t>
            </a:r>
            <a:endParaRPr lang="en-US" sz="3000" dirty="0"/>
          </a:p>
        </p:txBody>
      </p:sp>
      <p:sp>
        <p:nvSpPr>
          <p:cNvPr id="3" name="Text 1"/>
          <p:cNvSpPr/>
          <p:nvPr/>
        </p:nvSpPr>
        <p:spPr>
          <a:xfrm>
            <a:off x="548640" y="950976"/>
            <a:ext cx="11091672" cy="310896"/>
          </a:xfrm>
          <a:prstGeom prst="rect">
            <a:avLst/>
          </a:prstGeom>
          <a:noFill/>
          <a:ln/>
        </p:spPr>
        <p:txBody>
          <a:bodyPr wrap="square" lIns="0" tIns="0" rIns="0" bIns="0" rtlCol="0" anchor="ctr"/>
          <a:lstStyle/>
          <a:p>
            <a:pPr marL="0" indent="0">
              <a:buNone/>
            </a:pPr>
            <a:r>
              <a:rPr lang="en-US" sz="1400" i="1" dirty="0">
                <a:solidFill>
                  <a:srgbClr val="767676"/>
                </a:solidFill>
                <a:latin typeface="Calibri" pitchFamily="34" charset="0"/>
                <a:ea typeface="Calibri" pitchFamily="34" charset="-122"/>
                <a:cs typeface="Calibri" pitchFamily="34" charset="-120"/>
              </a:rPr>
              <a:t>Cohen's kappa, which discounts agreement expected by chance</a:t>
            </a:r>
            <a:endParaRPr lang="en-US" sz="1400" dirty="0"/>
          </a:p>
        </p:txBody>
      </p:sp>
      <p:sp>
        <p:nvSpPr>
          <p:cNvPr id="4" name="Shape 2"/>
          <p:cNvSpPr/>
          <p:nvPr/>
        </p:nvSpPr>
        <p:spPr>
          <a:xfrm>
            <a:off x="1234440" y="2331720"/>
            <a:ext cx="9692640" cy="0"/>
          </a:xfrm>
          <a:prstGeom prst="line">
            <a:avLst/>
          </a:prstGeom>
          <a:noFill/>
          <a:ln w="19050">
            <a:solidFill>
              <a:srgbClr val="D8D8D8"/>
            </a:solidFill>
            <a:prstDash val="solid"/>
          </a:ln>
        </p:spPr>
        <p:txBody>
          <a:bodyPr/>
          <a:lstStyle/>
          <a:p>
            <a:endParaRPr lang="en-US"/>
          </a:p>
        </p:txBody>
      </p:sp>
      <p:sp>
        <p:nvSpPr>
          <p:cNvPr id="5" name="Shape 3"/>
          <p:cNvSpPr/>
          <p:nvPr/>
        </p:nvSpPr>
        <p:spPr>
          <a:xfrm>
            <a:off x="1152144" y="2249424"/>
            <a:ext cx="164592" cy="164592"/>
          </a:xfrm>
          <a:prstGeom prst="ellipse">
            <a:avLst/>
          </a:prstGeom>
          <a:solidFill>
            <a:srgbClr val="1A1A1A"/>
          </a:solidFill>
          <a:ln/>
        </p:spPr>
        <p:txBody>
          <a:bodyPr/>
          <a:lstStyle/>
          <a:p>
            <a:endParaRPr lang="en-US"/>
          </a:p>
        </p:txBody>
      </p:sp>
      <p:sp>
        <p:nvSpPr>
          <p:cNvPr id="6" name="Text 4"/>
          <p:cNvSpPr/>
          <p:nvPr/>
        </p:nvSpPr>
        <p:spPr>
          <a:xfrm>
            <a:off x="320040" y="1673352"/>
            <a:ext cx="1828800" cy="292608"/>
          </a:xfrm>
          <a:prstGeom prst="rect">
            <a:avLst/>
          </a:prstGeom>
          <a:noFill/>
          <a:ln/>
        </p:spPr>
        <p:txBody>
          <a:bodyPr wrap="square" lIns="0" tIns="0" rIns="0" bIns="0" rtlCol="0" anchor="ctr"/>
          <a:lstStyle/>
          <a:p>
            <a:pPr marL="0" indent="0" algn="ctr">
              <a:buNone/>
            </a:pPr>
            <a:r>
              <a:rPr lang="en-US" sz="1400" b="1" dirty="0">
                <a:solidFill>
                  <a:srgbClr val="1A1A1A"/>
                </a:solidFill>
                <a:latin typeface="Calibri" pitchFamily="34" charset="0"/>
                <a:ea typeface="Calibri" pitchFamily="34" charset="-122"/>
                <a:cs typeface="Calibri" pitchFamily="34" charset="-120"/>
              </a:rPr>
              <a:t>TextBlob</a:t>
            </a:r>
            <a:endParaRPr lang="en-US" sz="1400" dirty="0"/>
          </a:p>
        </p:txBody>
      </p:sp>
      <p:sp>
        <p:nvSpPr>
          <p:cNvPr id="7" name="Text 5"/>
          <p:cNvSpPr/>
          <p:nvPr/>
        </p:nvSpPr>
        <p:spPr>
          <a:xfrm>
            <a:off x="320040" y="2478024"/>
            <a:ext cx="1828800" cy="274320"/>
          </a:xfrm>
          <a:prstGeom prst="rect">
            <a:avLst/>
          </a:prstGeom>
          <a:noFill/>
          <a:ln/>
        </p:spPr>
        <p:txBody>
          <a:bodyPr wrap="square" lIns="0" tIns="0" rIns="0" bIns="0" rtlCol="0" anchor="ctr"/>
          <a:lstStyle/>
          <a:p>
            <a:pPr marL="0" indent="0" algn="ctr">
              <a:buNone/>
            </a:pPr>
            <a:r>
              <a:rPr lang="en-US" sz="1200" dirty="0">
                <a:latin typeface="Calibri" pitchFamily="34" charset="0"/>
                <a:ea typeface="Calibri" pitchFamily="34" charset="-122"/>
                <a:cs typeface="Calibri" pitchFamily="34" charset="-120"/>
              </a:rPr>
              <a:t>Labeled 22.7% negative</a:t>
            </a:r>
            <a:endParaRPr lang="en-US" sz="1200" dirty="0"/>
          </a:p>
        </p:txBody>
      </p:sp>
      <p:sp>
        <p:nvSpPr>
          <p:cNvPr id="8" name="Shape 6"/>
          <p:cNvSpPr/>
          <p:nvPr/>
        </p:nvSpPr>
        <p:spPr>
          <a:xfrm>
            <a:off x="4379793" y="2249424"/>
            <a:ext cx="164592" cy="164592"/>
          </a:xfrm>
          <a:prstGeom prst="ellipse">
            <a:avLst/>
          </a:prstGeom>
          <a:solidFill>
            <a:srgbClr val="1A1A1A"/>
          </a:solidFill>
          <a:ln/>
        </p:spPr>
        <p:txBody>
          <a:bodyPr/>
          <a:lstStyle/>
          <a:p>
            <a:endParaRPr lang="en-US"/>
          </a:p>
        </p:txBody>
      </p:sp>
      <p:sp>
        <p:nvSpPr>
          <p:cNvPr id="9" name="Text 7"/>
          <p:cNvSpPr/>
          <p:nvPr/>
        </p:nvSpPr>
        <p:spPr>
          <a:xfrm>
            <a:off x="3547689" y="1673352"/>
            <a:ext cx="1828800" cy="292608"/>
          </a:xfrm>
          <a:prstGeom prst="rect">
            <a:avLst/>
          </a:prstGeom>
          <a:noFill/>
          <a:ln/>
        </p:spPr>
        <p:txBody>
          <a:bodyPr wrap="square" lIns="0" tIns="0" rIns="0" bIns="0" rtlCol="0" anchor="ctr"/>
          <a:lstStyle/>
          <a:p>
            <a:pPr marL="0" indent="0" algn="ctr">
              <a:buNone/>
            </a:pPr>
            <a:r>
              <a:rPr lang="en-US" sz="1400" b="1" dirty="0">
                <a:solidFill>
                  <a:srgbClr val="1A1A1A"/>
                </a:solidFill>
                <a:latin typeface="Calibri" pitchFamily="34" charset="0"/>
                <a:ea typeface="Calibri" pitchFamily="34" charset="-122"/>
                <a:cs typeface="Calibri" pitchFamily="34" charset="-120"/>
              </a:rPr>
              <a:t>VADER</a:t>
            </a:r>
            <a:endParaRPr lang="en-US" sz="1400" dirty="0"/>
          </a:p>
        </p:txBody>
      </p:sp>
      <p:sp>
        <p:nvSpPr>
          <p:cNvPr id="10" name="Text 8"/>
          <p:cNvSpPr/>
          <p:nvPr/>
        </p:nvSpPr>
        <p:spPr>
          <a:xfrm>
            <a:off x="3547689" y="2478024"/>
            <a:ext cx="1828800" cy="274320"/>
          </a:xfrm>
          <a:prstGeom prst="rect">
            <a:avLst/>
          </a:prstGeom>
          <a:noFill/>
          <a:ln/>
        </p:spPr>
        <p:txBody>
          <a:bodyPr wrap="square" lIns="0" tIns="0" rIns="0" bIns="0" rtlCol="0" anchor="ctr"/>
          <a:lstStyle/>
          <a:p>
            <a:pPr marL="0" indent="0" algn="ctr">
              <a:buNone/>
            </a:pPr>
            <a:r>
              <a:rPr lang="en-US" sz="1200" dirty="0">
                <a:latin typeface="Calibri" pitchFamily="34" charset="0"/>
                <a:ea typeface="Calibri" pitchFamily="34" charset="-122"/>
                <a:cs typeface="Calibri" pitchFamily="34" charset="-120"/>
              </a:rPr>
              <a:t>Labeled 35.0% negative</a:t>
            </a:r>
            <a:endParaRPr lang="en-US" sz="1200" dirty="0"/>
          </a:p>
        </p:txBody>
      </p:sp>
      <p:sp>
        <p:nvSpPr>
          <p:cNvPr id="11" name="Shape 9"/>
          <p:cNvSpPr/>
          <p:nvPr/>
        </p:nvSpPr>
        <p:spPr>
          <a:xfrm>
            <a:off x="7617135" y="2249424"/>
            <a:ext cx="164592" cy="164592"/>
          </a:xfrm>
          <a:prstGeom prst="ellipse">
            <a:avLst/>
          </a:prstGeom>
          <a:solidFill>
            <a:srgbClr val="1A1A1A"/>
          </a:solidFill>
          <a:ln/>
        </p:spPr>
        <p:txBody>
          <a:bodyPr/>
          <a:lstStyle/>
          <a:p>
            <a:endParaRPr lang="en-US"/>
          </a:p>
        </p:txBody>
      </p:sp>
      <p:sp>
        <p:nvSpPr>
          <p:cNvPr id="12" name="Text 10"/>
          <p:cNvSpPr/>
          <p:nvPr/>
        </p:nvSpPr>
        <p:spPr>
          <a:xfrm>
            <a:off x="6785031" y="1673352"/>
            <a:ext cx="1828800" cy="292608"/>
          </a:xfrm>
          <a:prstGeom prst="rect">
            <a:avLst/>
          </a:prstGeom>
          <a:noFill/>
          <a:ln/>
        </p:spPr>
        <p:txBody>
          <a:bodyPr wrap="square" lIns="0" tIns="0" rIns="0" bIns="0" rtlCol="0" anchor="ctr"/>
          <a:lstStyle/>
          <a:p>
            <a:pPr marL="0" indent="0" algn="ctr">
              <a:buNone/>
            </a:pPr>
            <a:r>
              <a:rPr lang="en-US" sz="1400" b="1" dirty="0">
                <a:solidFill>
                  <a:srgbClr val="1A1A1A"/>
                </a:solidFill>
                <a:latin typeface="Calibri" pitchFamily="34" charset="0"/>
                <a:ea typeface="Calibri" pitchFamily="34" charset="-122"/>
                <a:cs typeface="Calibri" pitchFamily="34" charset="-120"/>
              </a:rPr>
              <a:t>RoBERTa</a:t>
            </a:r>
            <a:endParaRPr lang="en-US" sz="1400" dirty="0"/>
          </a:p>
        </p:txBody>
      </p:sp>
      <p:sp>
        <p:nvSpPr>
          <p:cNvPr id="13" name="Text 11"/>
          <p:cNvSpPr/>
          <p:nvPr/>
        </p:nvSpPr>
        <p:spPr>
          <a:xfrm>
            <a:off x="6785031" y="2478024"/>
            <a:ext cx="1828800" cy="274320"/>
          </a:xfrm>
          <a:prstGeom prst="rect">
            <a:avLst/>
          </a:prstGeom>
          <a:noFill/>
          <a:ln/>
        </p:spPr>
        <p:txBody>
          <a:bodyPr wrap="square" lIns="0" tIns="0" rIns="0" bIns="0" rtlCol="0" anchor="ctr"/>
          <a:lstStyle/>
          <a:p>
            <a:pPr marL="0" indent="0" algn="ctr">
              <a:buNone/>
            </a:pPr>
            <a:r>
              <a:rPr lang="en-US" sz="1200" dirty="0">
                <a:latin typeface="Calibri" pitchFamily="34" charset="0"/>
                <a:ea typeface="Calibri" pitchFamily="34" charset="-122"/>
                <a:cs typeface="Calibri" pitchFamily="34" charset="-120"/>
              </a:rPr>
              <a:t>Labeled 52.1% negative</a:t>
            </a:r>
            <a:endParaRPr lang="en-US" sz="1200" dirty="0"/>
          </a:p>
        </p:txBody>
      </p:sp>
      <p:sp>
        <p:nvSpPr>
          <p:cNvPr id="14" name="Shape 12"/>
          <p:cNvSpPr/>
          <p:nvPr/>
        </p:nvSpPr>
        <p:spPr>
          <a:xfrm>
            <a:off x="10844784" y="2249424"/>
            <a:ext cx="164592" cy="164592"/>
          </a:xfrm>
          <a:prstGeom prst="ellipse">
            <a:avLst/>
          </a:prstGeom>
          <a:solidFill>
            <a:srgbClr val="1A1A1A"/>
          </a:solidFill>
          <a:ln/>
        </p:spPr>
        <p:txBody>
          <a:bodyPr/>
          <a:lstStyle/>
          <a:p>
            <a:endParaRPr lang="en-US"/>
          </a:p>
        </p:txBody>
      </p:sp>
      <p:sp>
        <p:nvSpPr>
          <p:cNvPr id="15" name="Text 13"/>
          <p:cNvSpPr/>
          <p:nvPr/>
        </p:nvSpPr>
        <p:spPr>
          <a:xfrm>
            <a:off x="10012680" y="1673352"/>
            <a:ext cx="1828800" cy="292608"/>
          </a:xfrm>
          <a:prstGeom prst="rect">
            <a:avLst/>
          </a:prstGeom>
          <a:noFill/>
          <a:ln/>
        </p:spPr>
        <p:txBody>
          <a:bodyPr wrap="square" lIns="0" tIns="0" rIns="0" bIns="0" rtlCol="0" anchor="ctr"/>
          <a:lstStyle/>
          <a:p>
            <a:pPr marL="0" indent="0" algn="ctr">
              <a:buNone/>
            </a:pPr>
            <a:r>
              <a:rPr lang="en-US" sz="1400" b="1" dirty="0">
                <a:solidFill>
                  <a:srgbClr val="1A1A1A"/>
                </a:solidFill>
                <a:latin typeface="Calibri" pitchFamily="34" charset="0"/>
                <a:ea typeface="Calibri" pitchFamily="34" charset="-122"/>
                <a:cs typeface="Calibri" pitchFamily="34" charset="-120"/>
              </a:rPr>
              <a:t>BERT</a:t>
            </a:r>
            <a:endParaRPr lang="en-US" sz="1400" dirty="0"/>
          </a:p>
        </p:txBody>
      </p:sp>
      <p:sp>
        <p:nvSpPr>
          <p:cNvPr id="16" name="Text 14"/>
          <p:cNvSpPr/>
          <p:nvPr/>
        </p:nvSpPr>
        <p:spPr>
          <a:xfrm>
            <a:off x="10012680" y="2478024"/>
            <a:ext cx="1828800" cy="274320"/>
          </a:xfrm>
          <a:prstGeom prst="rect">
            <a:avLst/>
          </a:prstGeom>
          <a:noFill/>
          <a:ln/>
        </p:spPr>
        <p:txBody>
          <a:bodyPr wrap="square" lIns="0" tIns="0" rIns="0" bIns="0" rtlCol="0" anchor="ctr"/>
          <a:lstStyle/>
          <a:p>
            <a:pPr marL="0" indent="0" algn="ctr">
              <a:buNone/>
            </a:pPr>
            <a:r>
              <a:rPr lang="en-US" sz="1200" dirty="0">
                <a:latin typeface="Calibri" pitchFamily="34" charset="0"/>
                <a:ea typeface="Calibri" pitchFamily="34" charset="-122"/>
                <a:cs typeface="Calibri" pitchFamily="34" charset="-120"/>
              </a:rPr>
              <a:t>Labeled 62.6% negative</a:t>
            </a:r>
            <a:endParaRPr lang="en-US" sz="1200" dirty="0"/>
          </a:p>
        </p:txBody>
      </p:sp>
      <p:sp>
        <p:nvSpPr>
          <p:cNvPr id="17" name="Shape 15"/>
          <p:cNvSpPr/>
          <p:nvPr/>
        </p:nvSpPr>
        <p:spPr>
          <a:xfrm>
            <a:off x="1234440" y="3547872"/>
            <a:ext cx="3227649" cy="0"/>
          </a:xfrm>
          <a:prstGeom prst="line">
            <a:avLst/>
          </a:prstGeom>
          <a:noFill/>
          <a:ln w="12700">
            <a:solidFill>
              <a:srgbClr val="767676"/>
            </a:solidFill>
            <a:prstDash val="solid"/>
          </a:ln>
        </p:spPr>
        <p:txBody>
          <a:bodyPr/>
          <a:lstStyle/>
          <a:p>
            <a:endParaRPr lang="en-US"/>
          </a:p>
        </p:txBody>
      </p:sp>
      <p:sp>
        <p:nvSpPr>
          <p:cNvPr id="18" name="Shape 16"/>
          <p:cNvSpPr/>
          <p:nvPr/>
        </p:nvSpPr>
        <p:spPr>
          <a:xfrm>
            <a:off x="4416369" y="3502152"/>
            <a:ext cx="91440" cy="91440"/>
          </a:xfrm>
          <a:prstGeom prst="ellipse">
            <a:avLst/>
          </a:prstGeom>
          <a:solidFill>
            <a:srgbClr val="767676"/>
          </a:solidFill>
          <a:ln/>
        </p:spPr>
        <p:txBody>
          <a:bodyPr/>
          <a:lstStyle/>
          <a:p>
            <a:endParaRPr lang="en-US"/>
          </a:p>
        </p:txBody>
      </p:sp>
      <p:sp>
        <p:nvSpPr>
          <p:cNvPr id="19" name="Text 17"/>
          <p:cNvSpPr/>
          <p:nvPr/>
        </p:nvSpPr>
        <p:spPr>
          <a:xfrm>
            <a:off x="2221809" y="3097706"/>
            <a:ext cx="2286000" cy="256032"/>
          </a:xfrm>
          <a:prstGeom prst="rect">
            <a:avLst/>
          </a:prstGeom>
          <a:noFill/>
          <a:ln/>
        </p:spPr>
        <p:txBody>
          <a:bodyPr wrap="square" lIns="0" tIns="0" rIns="0" bIns="0" rtlCol="0" anchor="ctr"/>
          <a:lstStyle/>
          <a:p>
            <a:pPr marL="0" indent="0" algn="r">
              <a:buNone/>
            </a:pPr>
            <a:r>
              <a:rPr lang="en-US" sz="1200" b="1" dirty="0">
                <a:solidFill>
                  <a:srgbClr val="1A1A1A"/>
                </a:solidFill>
                <a:latin typeface="Calibri" pitchFamily="34" charset="0"/>
                <a:ea typeface="Calibri" pitchFamily="34" charset="-122"/>
                <a:cs typeface="Calibri" pitchFamily="34" charset="-120"/>
              </a:rPr>
              <a:t>Adjacent pairs</a:t>
            </a:r>
            <a:endParaRPr lang="en-US" sz="1200" dirty="0"/>
          </a:p>
        </p:txBody>
      </p:sp>
      <p:sp>
        <p:nvSpPr>
          <p:cNvPr id="20" name="Text 18"/>
          <p:cNvSpPr/>
          <p:nvPr/>
        </p:nvSpPr>
        <p:spPr>
          <a:xfrm>
            <a:off x="2221809" y="3310128"/>
            <a:ext cx="2286000" cy="256032"/>
          </a:xfrm>
          <a:prstGeom prst="rect">
            <a:avLst/>
          </a:prstGeom>
          <a:noFill/>
          <a:ln/>
        </p:spPr>
        <p:txBody>
          <a:bodyPr wrap="square" lIns="0" tIns="0" rIns="0" bIns="0" rtlCol="0" anchor="ctr"/>
          <a:lstStyle/>
          <a:p>
            <a:pPr marL="0" indent="0" algn="r">
              <a:buNone/>
            </a:pPr>
            <a:r>
              <a:rPr lang="en-US" sz="1200" dirty="0">
                <a:latin typeface="Calibri" pitchFamily="34" charset="0"/>
                <a:ea typeface="Calibri" pitchFamily="34" charset="-122"/>
                <a:cs typeface="Calibri" pitchFamily="34" charset="-120"/>
              </a:rPr>
              <a:t>κ = 0.33, 0.31, 0.28</a:t>
            </a:r>
            <a:endParaRPr lang="en-US" sz="1200" dirty="0"/>
          </a:p>
        </p:txBody>
      </p:sp>
      <p:sp>
        <p:nvSpPr>
          <p:cNvPr id="21" name="Shape 19"/>
          <p:cNvSpPr/>
          <p:nvPr/>
        </p:nvSpPr>
        <p:spPr>
          <a:xfrm>
            <a:off x="1234440" y="4297680"/>
            <a:ext cx="6464991" cy="0"/>
          </a:xfrm>
          <a:prstGeom prst="line">
            <a:avLst/>
          </a:prstGeom>
          <a:noFill/>
          <a:ln w="12700">
            <a:solidFill>
              <a:srgbClr val="767676"/>
            </a:solidFill>
            <a:prstDash val="solid"/>
          </a:ln>
        </p:spPr>
        <p:txBody>
          <a:bodyPr/>
          <a:lstStyle/>
          <a:p>
            <a:endParaRPr lang="en-US"/>
          </a:p>
        </p:txBody>
      </p:sp>
      <p:sp>
        <p:nvSpPr>
          <p:cNvPr id="22" name="Shape 20"/>
          <p:cNvSpPr/>
          <p:nvPr/>
        </p:nvSpPr>
        <p:spPr>
          <a:xfrm>
            <a:off x="7653711" y="4251960"/>
            <a:ext cx="91440" cy="91440"/>
          </a:xfrm>
          <a:prstGeom prst="ellipse">
            <a:avLst/>
          </a:prstGeom>
          <a:solidFill>
            <a:srgbClr val="767676"/>
          </a:solidFill>
          <a:ln/>
        </p:spPr>
        <p:txBody>
          <a:bodyPr/>
          <a:lstStyle/>
          <a:p>
            <a:endParaRPr lang="en-US"/>
          </a:p>
        </p:txBody>
      </p:sp>
      <p:sp>
        <p:nvSpPr>
          <p:cNvPr id="23" name="Text 21"/>
          <p:cNvSpPr/>
          <p:nvPr/>
        </p:nvSpPr>
        <p:spPr>
          <a:xfrm>
            <a:off x="5459151" y="3822192"/>
            <a:ext cx="2286000" cy="256032"/>
          </a:xfrm>
          <a:prstGeom prst="rect">
            <a:avLst/>
          </a:prstGeom>
          <a:noFill/>
          <a:ln/>
        </p:spPr>
        <p:txBody>
          <a:bodyPr wrap="square" lIns="0" tIns="0" rIns="0" bIns="0" rtlCol="0" anchor="ctr"/>
          <a:lstStyle/>
          <a:p>
            <a:pPr marL="0" indent="0" algn="r">
              <a:buNone/>
            </a:pPr>
            <a:r>
              <a:rPr lang="en-US" sz="1200" b="1" dirty="0">
                <a:solidFill>
                  <a:srgbClr val="1A1A1A"/>
                </a:solidFill>
                <a:latin typeface="Calibri" pitchFamily="34" charset="0"/>
                <a:ea typeface="Calibri" pitchFamily="34" charset="-122"/>
                <a:cs typeface="Calibri" pitchFamily="34" charset="-120"/>
              </a:rPr>
              <a:t>Two apart</a:t>
            </a:r>
            <a:endParaRPr lang="en-US" sz="1200" dirty="0"/>
          </a:p>
        </p:txBody>
      </p:sp>
      <p:sp>
        <p:nvSpPr>
          <p:cNvPr id="24" name="Text 22"/>
          <p:cNvSpPr/>
          <p:nvPr/>
        </p:nvSpPr>
        <p:spPr>
          <a:xfrm>
            <a:off x="5459151" y="4059936"/>
            <a:ext cx="2286000" cy="256032"/>
          </a:xfrm>
          <a:prstGeom prst="rect">
            <a:avLst/>
          </a:prstGeom>
          <a:noFill/>
          <a:ln/>
        </p:spPr>
        <p:txBody>
          <a:bodyPr wrap="square" lIns="0" tIns="0" rIns="0" bIns="0" rtlCol="0" anchor="ctr"/>
          <a:lstStyle/>
          <a:p>
            <a:pPr marL="0" indent="0" algn="r">
              <a:buNone/>
            </a:pPr>
            <a:r>
              <a:rPr lang="en-US" sz="1200" dirty="0">
                <a:latin typeface="Calibri" pitchFamily="34" charset="0"/>
                <a:ea typeface="Calibri" pitchFamily="34" charset="-122"/>
                <a:cs typeface="Calibri" pitchFamily="34" charset="-120"/>
              </a:rPr>
              <a:t>κ = 0.19, 0.18</a:t>
            </a:r>
            <a:endParaRPr lang="en-US" sz="1200" dirty="0"/>
          </a:p>
        </p:txBody>
      </p:sp>
      <p:sp>
        <p:nvSpPr>
          <p:cNvPr id="25" name="Shape 23"/>
          <p:cNvSpPr/>
          <p:nvPr/>
        </p:nvSpPr>
        <p:spPr>
          <a:xfrm>
            <a:off x="1234440" y="5047488"/>
            <a:ext cx="9692640" cy="0"/>
          </a:xfrm>
          <a:prstGeom prst="line">
            <a:avLst/>
          </a:prstGeom>
          <a:noFill/>
          <a:ln w="12700">
            <a:solidFill>
              <a:srgbClr val="767676"/>
            </a:solidFill>
            <a:prstDash val="solid"/>
          </a:ln>
        </p:spPr>
        <p:txBody>
          <a:bodyPr/>
          <a:lstStyle/>
          <a:p>
            <a:endParaRPr lang="en-US"/>
          </a:p>
        </p:txBody>
      </p:sp>
      <p:sp>
        <p:nvSpPr>
          <p:cNvPr id="26" name="Shape 24"/>
          <p:cNvSpPr/>
          <p:nvPr/>
        </p:nvSpPr>
        <p:spPr>
          <a:xfrm>
            <a:off x="10881360" y="5001768"/>
            <a:ext cx="91440" cy="91440"/>
          </a:xfrm>
          <a:prstGeom prst="ellipse">
            <a:avLst/>
          </a:prstGeom>
          <a:solidFill>
            <a:srgbClr val="767676"/>
          </a:solidFill>
          <a:ln/>
        </p:spPr>
        <p:txBody>
          <a:bodyPr/>
          <a:lstStyle/>
          <a:p>
            <a:endParaRPr lang="en-US"/>
          </a:p>
        </p:txBody>
      </p:sp>
      <p:sp>
        <p:nvSpPr>
          <p:cNvPr id="27" name="Text 25"/>
          <p:cNvSpPr/>
          <p:nvPr/>
        </p:nvSpPr>
        <p:spPr>
          <a:xfrm>
            <a:off x="8686800" y="4572000"/>
            <a:ext cx="2286000" cy="256032"/>
          </a:xfrm>
          <a:prstGeom prst="rect">
            <a:avLst/>
          </a:prstGeom>
          <a:noFill/>
          <a:ln/>
        </p:spPr>
        <p:txBody>
          <a:bodyPr wrap="square" lIns="0" tIns="0" rIns="0" bIns="0" rtlCol="0" anchor="ctr"/>
          <a:lstStyle/>
          <a:p>
            <a:pPr marL="0" indent="0" algn="r">
              <a:buNone/>
            </a:pPr>
            <a:r>
              <a:rPr lang="en-US" sz="1200" b="1" dirty="0">
                <a:solidFill>
                  <a:srgbClr val="1A1A1A"/>
                </a:solidFill>
                <a:latin typeface="Calibri" pitchFamily="34" charset="0"/>
                <a:ea typeface="Calibri" pitchFamily="34" charset="-122"/>
                <a:cs typeface="Calibri" pitchFamily="34" charset="-120"/>
              </a:rPr>
              <a:t>Opposite ends</a:t>
            </a:r>
            <a:endParaRPr lang="en-US" sz="1200" dirty="0"/>
          </a:p>
        </p:txBody>
      </p:sp>
      <p:sp>
        <p:nvSpPr>
          <p:cNvPr id="28" name="Text 26"/>
          <p:cNvSpPr/>
          <p:nvPr/>
        </p:nvSpPr>
        <p:spPr>
          <a:xfrm>
            <a:off x="8686800" y="4809744"/>
            <a:ext cx="2286000" cy="256032"/>
          </a:xfrm>
          <a:prstGeom prst="rect">
            <a:avLst/>
          </a:prstGeom>
          <a:noFill/>
          <a:ln/>
        </p:spPr>
        <p:txBody>
          <a:bodyPr wrap="square" lIns="0" tIns="0" rIns="0" bIns="0" rtlCol="0" anchor="ctr"/>
          <a:lstStyle/>
          <a:p>
            <a:pPr marL="0" indent="0" algn="r">
              <a:buNone/>
            </a:pPr>
            <a:r>
              <a:rPr lang="en-US" sz="1200" dirty="0">
                <a:latin typeface="Calibri" pitchFamily="34" charset="0"/>
                <a:ea typeface="Calibri" pitchFamily="34" charset="-122"/>
                <a:cs typeface="Calibri" pitchFamily="34" charset="-120"/>
              </a:rPr>
              <a:t>κ = 0.10</a:t>
            </a:r>
            <a:endParaRPr lang="en-US" sz="1200" dirty="0"/>
          </a:p>
        </p:txBody>
      </p:sp>
      <p:sp>
        <p:nvSpPr>
          <p:cNvPr id="29" name="Text 27"/>
          <p:cNvSpPr/>
          <p:nvPr/>
        </p:nvSpPr>
        <p:spPr>
          <a:xfrm>
            <a:off x="548640" y="5623560"/>
            <a:ext cx="10881360" cy="822960"/>
          </a:xfrm>
          <a:prstGeom prst="rect">
            <a:avLst/>
          </a:prstGeom>
          <a:noFill/>
          <a:ln/>
        </p:spPr>
        <p:txBody>
          <a:bodyPr wrap="square" lIns="0" tIns="0" rIns="0" bIns="0" rtlCol="0" anchor="ctr"/>
          <a:lstStyle/>
          <a:p>
            <a:pPr marL="0" indent="0">
              <a:lnSpc>
                <a:spcPts val="2000"/>
              </a:lnSpc>
              <a:buNone/>
            </a:pPr>
            <a:r>
              <a:rPr lang="en-US" sz="1400" dirty="0">
                <a:solidFill>
                  <a:srgbClr val="3D3D3D"/>
                </a:solidFill>
                <a:latin typeface="Calibri" pitchFamily="34" charset="0"/>
                <a:ea typeface="Calibri" pitchFamily="34" charset="-122"/>
                <a:cs typeface="Calibri" pitchFamily="34" charset="-120"/>
              </a:rPr>
              <a:t>Agreement falls steadily with distance along the spectrum. VADER and RoBERTa — one lexicon, one transformer — agree more with each other than the two transformers do. What predicts agreement is not shared architecture but how readily a method reaches for a negative label.</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384048"/>
            <a:ext cx="11091672" cy="566928"/>
          </a:xfrm>
          <a:prstGeom prst="rect">
            <a:avLst/>
          </a:prstGeom>
          <a:noFill/>
          <a:ln/>
        </p:spPr>
        <p:txBody>
          <a:bodyPr wrap="square" lIns="0" tIns="0" rIns="0" bIns="0" rtlCol="0" anchor="ctr"/>
          <a:lstStyle/>
          <a:p>
            <a:pPr marL="0" indent="0">
              <a:buNone/>
            </a:pPr>
            <a:r>
              <a:rPr lang="en-US" sz="3000" b="1" dirty="0">
                <a:solidFill>
                  <a:srgbClr val="1A1A1A"/>
                </a:solidFill>
                <a:latin typeface="Cambria" pitchFamily="34" charset="0"/>
                <a:ea typeface="Cambria" pitchFamily="34" charset="-122"/>
                <a:cs typeface="Cambria" pitchFamily="34" charset="-120"/>
              </a:rPr>
              <a:t>Human-Coded Benchmark: Settling it with human labeling</a:t>
            </a:r>
            <a:endParaRPr lang="en-US" sz="3000" dirty="0"/>
          </a:p>
        </p:txBody>
      </p:sp>
      <p:sp>
        <p:nvSpPr>
          <p:cNvPr id="3" name="Text 1"/>
          <p:cNvSpPr/>
          <p:nvPr/>
        </p:nvSpPr>
        <p:spPr>
          <a:xfrm>
            <a:off x="548640" y="950976"/>
            <a:ext cx="11091672" cy="310896"/>
          </a:xfrm>
          <a:prstGeom prst="rect">
            <a:avLst/>
          </a:prstGeom>
          <a:noFill/>
          <a:ln/>
        </p:spPr>
        <p:txBody>
          <a:bodyPr wrap="square" lIns="0" tIns="0" rIns="0" bIns="0" rtlCol="0" anchor="ctr"/>
          <a:lstStyle/>
          <a:p>
            <a:pPr marL="0" indent="0">
              <a:buNone/>
            </a:pPr>
            <a:r>
              <a:rPr lang="en-US" sz="1400" i="1" dirty="0">
                <a:solidFill>
                  <a:srgbClr val="767676"/>
                </a:solidFill>
                <a:latin typeface="Calibri" pitchFamily="34" charset="0"/>
                <a:ea typeface="Calibri" pitchFamily="34" charset="-122"/>
                <a:cs typeface="Calibri" pitchFamily="34" charset="-120"/>
              </a:rPr>
              <a:t>The models' own output cannot say which model is right</a:t>
            </a:r>
            <a:endParaRPr lang="en-US" sz="1400" dirty="0"/>
          </a:p>
        </p:txBody>
      </p:sp>
      <p:sp>
        <p:nvSpPr>
          <p:cNvPr id="4" name="Shape 2"/>
          <p:cNvSpPr/>
          <p:nvPr/>
        </p:nvSpPr>
        <p:spPr>
          <a:xfrm>
            <a:off x="566928" y="1609344"/>
            <a:ext cx="274320" cy="274320"/>
          </a:xfrm>
          <a:prstGeom prst="ellipse">
            <a:avLst/>
          </a:prstGeom>
          <a:solidFill>
            <a:srgbClr val="1A1A1A"/>
          </a:solidFill>
          <a:ln/>
        </p:spPr>
        <p:txBody>
          <a:bodyPr/>
          <a:lstStyle/>
          <a:p>
            <a:endParaRPr lang="en-US"/>
          </a:p>
        </p:txBody>
      </p:sp>
      <p:sp>
        <p:nvSpPr>
          <p:cNvPr id="5" name="Text 3"/>
          <p:cNvSpPr/>
          <p:nvPr/>
        </p:nvSpPr>
        <p:spPr>
          <a:xfrm>
            <a:off x="566928" y="1609344"/>
            <a:ext cx="274320" cy="2743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024128" y="1554480"/>
            <a:ext cx="5760720" cy="329184"/>
          </a:xfrm>
          <a:prstGeom prst="rect">
            <a:avLst/>
          </a:prstGeom>
          <a:noFill/>
          <a:ln/>
        </p:spPr>
        <p:txBody>
          <a:bodyPr wrap="square" lIns="0" tIns="0" rIns="0" bIns="0" rtlCol="0" anchor="ctr"/>
          <a:lstStyle/>
          <a:p>
            <a:pPr marL="0" indent="0">
              <a:buNone/>
            </a:pPr>
            <a:r>
              <a:rPr lang="en-US" sz="1600" b="1" dirty="0">
                <a:solidFill>
                  <a:srgbClr val="1A1A1A"/>
                </a:solidFill>
                <a:latin typeface="Calibri" pitchFamily="34" charset="0"/>
                <a:ea typeface="Calibri" pitchFamily="34" charset="-122"/>
                <a:cs typeface="Calibri" pitchFamily="34" charset="-120"/>
              </a:rPr>
              <a:t>100</a:t>
            </a:r>
            <a:endParaRPr lang="en-US" sz="1600" dirty="0"/>
          </a:p>
        </p:txBody>
      </p:sp>
      <p:sp>
        <p:nvSpPr>
          <p:cNvPr id="7" name="Text 5"/>
          <p:cNvSpPr/>
          <p:nvPr/>
        </p:nvSpPr>
        <p:spPr>
          <a:xfrm>
            <a:off x="1024128" y="1901952"/>
            <a:ext cx="5760720" cy="548640"/>
          </a:xfrm>
          <a:prstGeom prst="rect">
            <a:avLst/>
          </a:prstGeom>
          <a:noFill/>
          <a:ln/>
        </p:spPr>
        <p:txBody>
          <a:bodyPr wrap="square" lIns="0" tIns="0" rIns="0" bIns="0" rtlCol="0" anchor="ctr"/>
          <a:lstStyle/>
          <a:p>
            <a:pPr marL="0" indent="0">
              <a:lnSpc>
                <a:spcPts val="1700"/>
              </a:lnSpc>
              <a:buNone/>
            </a:pPr>
            <a:r>
              <a:rPr lang="en-US" sz="1300" dirty="0">
                <a:solidFill>
                  <a:srgbClr val="3D3D3D"/>
                </a:solidFill>
                <a:latin typeface="Calibri" pitchFamily="34" charset="0"/>
                <a:ea typeface="Calibri" pitchFamily="34" charset="-122"/>
                <a:cs typeface="Calibri" pitchFamily="34" charset="-120"/>
              </a:rPr>
              <a:t>comments drawn at random and labelled by hand, without seeing any model output</a:t>
            </a:r>
            <a:endParaRPr lang="en-US" sz="1300" dirty="0"/>
          </a:p>
        </p:txBody>
      </p:sp>
      <p:sp>
        <p:nvSpPr>
          <p:cNvPr id="8" name="Shape 6"/>
          <p:cNvSpPr/>
          <p:nvPr/>
        </p:nvSpPr>
        <p:spPr>
          <a:xfrm>
            <a:off x="566928" y="2633472"/>
            <a:ext cx="274320" cy="274320"/>
          </a:xfrm>
          <a:prstGeom prst="ellipse">
            <a:avLst/>
          </a:prstGeom>
          <a:solidFill>
            <a:srgbClr val="1A1A1A"/>
          </a:solidFill>
          <a:ln/>
        </p:spPr>
        <p:txBody>
          <a:bodyPr/>
          <a:lstStyle/>
          <a:p>
            <a:endParaRPr lang="en-US"/>
          </a:p>
        </p:txBody>
      </p:sp>
      <p:sp>
        <p:nvSpPr>
          <p:cNvPr id="9" name="Text 7"/>
          <p:cNvSpPr/>
          <p:nvPr/>
        </p:nvSpPr>
        <p:spPr>
          <a:xfrm>
            <a:off x="566928" y="2633472"/>
            <a:ext cx="274320" cy="2743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p:nvPr/>
        </p:nvSpPr>
        <p:spPr>
          <a:xfrm>
            <a:off x="1024128" y="2578608"/>
            <a:ext cx="5760720" cy="329184"/>
          </a:xfrm>
          <a:prstGeom prst="rect">
            <a:avLst/>
          </a:prstGeom>
          <a:noFill/>
          <a:ln/>
        </p:spPr>
        <p:txBody>
          <a:bodyPr wrap="square" lIns="0" tIns="0" rIns="0" bIns="0" rtlCol="0" anchor="ctr"/>
          <a:lstStyle/>
          <a:p>
            <a:pPr marL="0" indent="0">
              <a:buNone/>
            </a:pPr>
            <a:r>
              <a:rPr lang="en-US" sz="1600" b="1" dirty="0">
                <a:solidFill>
                  <a:srgbClr val="1A1A1A"/>
                </a:solidFill>
                <a:latin typeface="Calibri" pitchFamily="34" charset="0"/>
                <a:ea typeface="Calibri" pitchFamily="34" charset="-122"/>
                <a:cs typeface="Calibri" pitchFamily="34" charset="-120"/>
              </a:rPr>
              <a:t>Rules first</a:t>
            </a:r>
            <a:endParaRPr lang="en-US" sz="1600" dirty="0"/>
          </a:p>
        </p:txBody>
      </p:sp>
      <p:sp>
        <p:nvSpPr>
          <p:cNvPr id="11" name="Text 9"/>
          <p:cNvSpPr/>
          <p:nvPr/>
        </p:nvSpPr>
        <p:spPr>
          <a:xfrm>
            <a:off x="1024128" y="2926080"/>
            <a:ext cx="5760720" cy="548640"/>
          </a:xfrm>
          <a:prstGeom prst="rect">
            <a:avLst/>
          </a:prstGeom>
          <a:noFill/>
          <a:ln/>
        </p:spPr>
        <p:txBody>
          <a:bodyPr wrap="square" lIns="0" tIns="0" rIns="0" bIns="0" rtlCol="0" anchor="ctr"/>
          <a:lstStyle/>
          <a:p>
            <a:pPr marL="0" indent="0">
              <a:lnSpc>
                <a:spcPts val="1700"/>
              </a:lnSpc>
              <a:buNone/>
            </a:pPr>
            <a:r>
              <a:rPr lang="en-US" sz="1300" dirty="0">
                <a:solidFill>
                  <a:srgbClr val="3D3D3D"/>
                </a:solidFill>
                <a:latin typeface="Calibri" pitchFamily="34" charset="0"/>
                <a:ea typeface="Calibri" pitchFamily="34" charset="-122"/>
                <a:cs typeface="Calibri" pitchFamily="34" charset="-120"/>
              </a:rPr>
              <a:t>coding rules written and agreed before annotation began, to prevent adjusting toward the models</a:t>
            </a:r>
            <a:endParaRPr lang="en-US" sz="1300" dirty="0"/>
          </a:p>
        </p:txBody>
      </p:sp>
      <p:sp>
        <p:nvSpPr>
          <p:cNvPr id="12" name="Shape 10"/>
          <p:cNvSpPr/>
          <p:nvPr/>
        </p:nvSpPr>
        <p:spPr>
          <a:xfrm>
            <a:off x="566928" y="3657600"/>
            <a:ext cx="274320" cy="274320"/>
          </a:xfrm>
          <a:prstGeom prst="ellipse">
            <a:avLst/>
          </a:prstGeom>
          <a:solidFill>
            <a:srgbClr val="1A1A1A"/>
          </a:solidFill>
          <a:ln/>
        </p:spPr>
        <p:txBody>
          <a:bodyPr/>
          <a:lstStyle/>
          <a:p>
            <a:endParaRPr lang="en-US"/>
          </a:p>
        </p:txBody>
      </p:sp>
      <p:sp>
        <p:nvSpPr>
          <p:cNvPr id="13" name="Text 11"/>
          <p:cNvSpPr/>
          <p:nvPr/>
        </p:nvSpPr>
        <p:spPr>
          <a:xfrm>
            <a:off x="566928" y="3657600"/>
            <a:ext cx="274320" cy="2743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4" name="Text 12"/>
          <p:cNvSpPr/>
          <p:nvPr/>
        </p:nvSpPr>
        <p:spPr>
          <a:xfrm>
            <a:off x="1024128" y="3602736"/>
            <a:ext cx="5760720" cy="329184"/>
          </a:xfrm>
          <a:prstGeom prst="rect">
            <a:avLst/>
          </a:prstGeom>
          <a:noFill/>
          <a:ln/>
        </p:spPr>
        <p:txBody>
          <a:bodyPr wrap="square" lIns="0" tIns="0" rIns="0" bIns="0" rtlCol="0" anchor="ctr"/>
          <a:lstStyle/>
          <a:p>
            <a:pPr marL="0" indent="0">
              <a:buNone/>
            </a:pPr>
            <a:r>
              <a:rPr lang="en-US" sz="1600" b="1" dirty="0">
                <a:solidFill>
                  <a:srgbClr val="1A1A1A"/>
                </a:solidFill>
                <a:latin typeface="Calibri" pitchFamily="34" charset="0"/>
                <a:ea typeface="Calibri" pitchFamily="34" charset="-122"/>
                <a:cs typeface="Calibri" pitchFamily="34" charset="-120"/>
              </a:rPr>
              <a:t>One rule above all</a:t>
            </a:r>
            <a:endParaRPr lang="en-US" sz="1600" dirty="0"/>
          </a:p>
        </p:txBody>
      </p:sp>
      <p:sp>
        <p:nvSpPr>
          <p:cNvPr id="15" name="Text 13"/>
          <p:cNvSpPr/>
          <p:nvPr/>
        </p:nvSpPr>
        <p:spPr>
          <a:xfrm>
            <a:off x="1024128" y="3950208"/>
            <a:ext cx="5760720" cy="548640"/>
          </a:xfrm>
          <a:prstGeom prst="rect">
            <a:avLst/>
          </a:prstGeom>
          <a:noFill/>
          <a:ln/>
        </p:spPr>
        <p:txBody>
          <a:bodyPr wrap="square" lIns="0" tIns="0" rIns="0" bIns="0" rtlCol="0" anchor="ctr"/>
          <a:lstStyle/>
          <a:p>
            <a:pPr marL="0" indent="0">
              <a:lnSpc>
                <a:spcPts val="1700"/>
              </a:lnSpc>
              <a:buNone/>
            </a:pPr>
            <a:r>
              <a:rPr lang="en-US" sz="1300" dirty="0">
                <a:solidFill>
                  <a:srgbClr val="3D3D3D"/>
                </a:solidFill>
                <a:latin typeface="Calibri" pitchFamily="34" charset="0"/>
                <a:ea typeface="Calibri" pitchFamily="34" charset="-122"/>
                <a:cs typeface="Calibri" pitchFamily="34" charset="-120"/>
              </a:rPr>
              <a:t>label the attitude the commenter expresses — not whether the subject matter is pleasant</a:t>
            </a:r>
            <a:endParaRPr lang="en-US" sz="1300" dirty="0"/>
          </a:p>
        </p:txBody>
      </p:sp>
      <p:sp>
        <p:nvSpPr>
          <p:cNvPr id="16" name="Shape 14"/>
          <p:cNvSpPr/>
          <p:nvPr/>
        </p:nvSpPr>
        <p:spPr>
          <a:xfrm>
            <a:off x="7406640" y="1554480"/>
            <a:ext cx="4233672" cy="3200400"/>
          </a:xfrm>
          <a:prstGeom prst="roundRect">
            <a:avLst>
              <a:gd name="adj" fmla="val 1429"/>
            </a:avLst>
          </a:prstGeom>
          <a:solidFill>
            <a:srgbClr val="F4F4F4"/>
          </a:solidFill>
          <a:ln w="9525">
            <a:solidFill>
              <a:srgbClr val="D8D8D8"/>
            </a:solidFill>
            <a:prstDash val="solid"/>
          </a:ln>
        </p:spPr>
        <p:txBody>
          <a:bodyPr/>
          <a:lstStyle/>
          <a:p>
            <a:endParaRPr lang="en-US"/>
          </a:p>
        </p:txBody>
      </p:sp>
      <p:sp>
        <p:nvSpPr>
          <p:cNvPr id="17" name="Text 15"/>
          <p:cNvSpPr/>
          <p:nvPr/>
        </p:nvSpPr>
        <p:spPr>
          <a:xfrm>
            <a:off x="7726680" y="1828800"/>
            <a:ext cx="3611880" cy="329184"/>
          </a:xfrm>
          <a:prstGeom prst="rect">
            <a:avLst/>
          </a:prstGeom>
          <a:noFill/>
          <a:ln/>
        </p:spPr>
        <p:txBody>
          <a:bodyPr wrap="square" lIns="0" tIns="0" rIns="0" bIns="0" rtlCol="0" anchor="ctr"/>
          <a:lstStyle/>
          <a:p>
            <a:pPr marL="0" indent="0">
              <a:buNone/>
            </a:pPr>
            <a:r>
              <a:rPr lang="en-US" sz="1700" b="1" dirty="0">
                <a:solidFill>
                  <a:srgbClr val="1A1A1A"/>
                </a:solidFill>
                <a:latin typeface="Cambria" pitchFamily="34" charset="0"/>
                <a:ea typeface="Cambria" pitchFamily="34" charset="-122"/>
                <a:cs typeface="Cambria" pitchFamily="34" charset="-120"/>
              </a:rPr>
              <a:t>What the corpus actually is</a:t>
            </a:r>
            <a:endParaRPr lang="en-US" sz="1700" dirty="0"/>
          </a:p>
        </p:txBody>
      </p:sp>
      <p:sp>
        <p:nvSpPr>
          <p:cNvPr id="18" name="Shape 16"/>
          <p:cNvSpPr/>
          <p:nvPr/>
        </p:nvSpPr>
        <p:spPr>
          <a:xfrm>
            <a:off x="7726680" y="2487168"/>
            <a:ext cx="109728" cy="310896"/>
          </a:xfrm>
          <a:prstGeom prst="rect">
            <a:avLst/>
          </a:prstGeom>
          <a:solidFill>
            <a:srgbClr val="B23B3B"/>
          </a:solidFill>
          <a:ln/>
        </p:spPr>
        <p:txBody>
          <a:bodyPr/>
          <a:lstStyle/>
          <a:p>
            <a:endParaRPr lang="en-US"/>
          </a:p>
        </p:txBody>
      </p:sp>
      <p:sp>
        <p:nvSpPr>
          <p:cNvPr id="19" name="Text 17"/>
          <p:cNvSpPr/>
          <p:nvPr/>
        </p:nvSpPr>
        <p:spPr>
          <a:xfrm>
            <a:off x="7973568" y="2395728"/>
            <a:ext cx="1828800" cy="457200"/>
          </a:xfrm>
          <a:prstGeom prst="rect">
            <a:avLst/>
          </a:prstGeom>
          <a:noFill/>
          <a:ln/>
        </p:spPr>
        <p:txBody>
          <a:bodyPr wrap="square" lIns="0" tIns="0" rIns="0" bIns="0" rtlCol="0" anchor="ctr"/>
          <a:lstStyle/>
          <a:p>
            <a:pPr marL="0" indent="0">
              <a:buNone/>
            </a:pPr>
            <a:r>
              <a:rPr lang="en-US" sz="1500" dirty="0">
                <a:solidFill>
                  <a:srgbClr val="3D3D3D"/>
                </a:solidFill>
                <a:latin typeface="Calibri" pitchFamily="34" charset="0"/>
                <a:ea typeface="Calibri" pitchFamily="34" charset="-122"/>
                <a:cs typeface="Calibri" pitchFamily="34" charset="-120"/>
              </a:rPr>
              <a:t>Negative</a:t>
            </a:r>
            <a:endParaRPr lang="en-US" sz="1500" dirty="0"/>
          </a:p>
        </p:txBody>
      </p:sp>
      <p:sp>
        <p:nvSpPr>
          <p:cNvPr id="20" name="Text 18"/>
          <p:cNvSpPr/>
          <p:nvPr/>
        </p:nvSpPr>
        <p:spPr>
          <a:xfrm>
            <a:off x="9692640" y="2395728"/>
            <a:ext cx="1645920" cy="457200"/>
          </a:xfrm>
          <a:prstGeom prst="rect">
            <a:avLst/>
          </a:prstGeom>
          <a:noFill/>
          <a:ln/>
        </p:spPr>
        <p:txBody>
          <a:bodyPr wrap="square" lIns="0" tIns="0" rIns="0" bIns="0" rtlCol="0" anchor="ctr"/>
          <a:lstStyle/>
          <a:p>
            <a:pPr marL="0" indent="0" algn="r">
              <a:buNone/>
            </a:pPr>
            <a:r>
              <a:rPr lang="en-US" sz="2200" b="1" dirty="0">
                <a:solidFill>
                  <a:srgbClr val="1A1A1A"/>
                </a:solidFill>
                <a:latin typeface="Cambria" pitchFamily="34" charset="0"/>
                <a:ea typeface="Cambria" pitchFamily="34" charset="-122"/>
                <a:cs typeface="Cambria" pitchFamily="34" charset="-120"/>
              </a:rPr>
              <a:t>44%</a:t>
            </a:r>
            <a:endParaRPr lang="en-US" sz="2200" dirty="0"/>
          </a:p>
        </p:txBody>
      </p:sp>
      <p:sp>
        <p:nvSpPr>
          <p:cNvPr id="21" name="Shape 19"/>
          <p:cNvSpPr/>
          <p:nvPr/>
        </p:nvSpPr>
        <p:spPr>
          <a:xfrm>
            <a:off x="7726680" y="3145536"/>
            <a:ext cx="109728" cy="310896"/>
          </a:xfrm>
          <a:prstGeom prst="rect">
            <a:avLst/>
          </a:prstGeom>
          <a:solidFill>
            <a:srgbClr val="9AA5AD"/>
          </a:solidFill>
          <a:ln/>
        </p:spPr>
        <p:txBody>
          <a:bodyPr/>
          <a:lstStyle/>
          <a:p>
            <a:endParaRPr lang="en-US"/>
          </a:p>
        </p:txBody>
      </p:sp>
      <p:sp>
        <p:nvSpPr>
          <p:cNvPr id="22" name="Text 20"/>
          <p:cNvSpPr/>
          <p:nvPr/>
        </p:nvSpPr>
        <p:spPr>
          <a:xfrm>
            <a:off x="7973568" y="3054096"/>
            <a:ext cx="1828800" cy="457200"/>
          </a:xfrm>
          <a:prstGeom prst="rect">
            <a:avLst/>
          </a:prstGeom>
          <a:noFill/>
          <a:ln/>
        </p:spPr>
        <p:txBody>
          <a:bodyPr wrap="square" lIns="0" tIns="0" rIns="0" bIns="0" rtlCol="0" anchor="ctr"/>
          <a:lstStyle/>
          <a:p>
            <a:pPr marL="0" indent="0">
              <a:buNone/>
            </a:pPr>
            <a:r>
              <a:rPr lang="en-US" sz="1500" dirty="0">
                <a:solidFill>
                  <a:srgbClr val="3D3D3D"/>
                </a:solidFill>
                <a:latin typeface="Calibri" pitchFamily="34" charset="0"/>
                <a:ea typeface="Calibri" pitchFamily="34" charset="-122"/>
                <a:cs typeface="Calibri" pitchFamily="34" charset="-120"/>
              </a:rPr>
              <a:t>Neutral</a:t>
            </a:r>
            <a:endParaRPr lang="en-US" sz="1500" dirty="0"/>
          </a:p>
        </p:txBody>
      </p:sp>
      <p:sp>
        <p:nvSpPr>
          <p:cNvPr id="23" name="Text 21"/>
          <p:cNvSpPr/>
          <p:nvPr/>
        </p:nvSpPr>
        <p:spPr>
          <a:xfrm>
            <a:off x="9692640" y="3054096"/>
            <a:ext cx="1645920" cy="457200"/>
          </a:xfrm>
          <a:prstGeom prst="rect">
            <a:avLst/>
          </a:prstGeom>
          <a:noFill/>
          <a:ln/>
        </p:spPr>
        <p:txBody>
          <a:bodyPr wrap="square" lIns="0" tIns="0" rIns="0" bIns="0" rtlCol="0" anchor="ctr"/>
          <a:lstStyle/>
          <a:p>
            <a:pPr marL="0" indent="0" algn="r">
              <a:buNone/>
            </a:pPr>
            <a:r>
              <a:rPr lang="en-US" sz="2200" b="1" dirty="0">
                <a:solidFill>
                  <a:srgbClr val="1A1A1A"/>
                </a:solidFill>
                <a:latin typeface="Cambria" pitchFamily="34" charset="0"/>
                <a:ea typeface="Cambria" pitchFamily="34" charset="-122"/>
                <a:cs typeface="Cambria" pitchFamily="34" charset="-120"/>
              </a:rPr>
              <a:t>37%</a:t>
            </a:r>
            <a:endParaRPr lang="en-US" sz="2200" dirty="0"/>
          </a:p>
        </p:txBody>
      </p:sp>
      <p:sp>
        <p:nvSpPr>
          <p:cNvPr id="24" name="Shape 22"/>
          <p:cNvSpPr/>
          <p:nvPr/>
        </p:nvSpPr>
        <p:spPr>
          <a:xfrm>
            <a:off x="7726680" y="3803904"/>
            <a:ext cx="109728" cy="310896"/>
          </a:xfrm>
          <a:prstGeom prst="rect">
            <a:avLst/>
          </a:prstGeom>
          <a:solidFill>
            <a:srgbClr val="3B7A57"/>
          </a:solidFill>
          <a:ln/>
        </p:spPr>
        <p:txBody>
          <a:bodyPr/>
          <a:lstStyle/>
          <a:p>
            <a:endParaRPr lang="en-US"/>
          </a:p>
        </p:txBody>
      </p:sp>
      <p:sp>
        <p:nvSpPr>
          <p:cNvPr id="25" name="Text 23"/>
          <p:cNvSpPr/>
          <p:nvPr/>
        </p:nvSpPr>
        <p:spPr>
          <a:xfrm>
            <a:off x="7973568" y="3712464"/>
            <a:ext cx="1828800" cy="457200"/>
          </a:xfrm>
          <a:prstGeom prst="rect">
            <a:avLst/>
          </a:prstGeom>
          <a:noFill/>
          <a:ln/>
        </p:spPr>
        <p:txBody>
          <a:bodyPr wrap="square" lIns="0" tIns="0" rIns="0" bIns="0" rtlCol="0" anchor="ctr"/>
          <a:lstStyle/>
          <a:p>
            <a:pPr marL="0" indent="0">
              <a:buNone/>
            </a:pPr>
            <a:r>
              <a:rPr lang="en-US" sz="1500" dirty="0">
                <a:solidFill>
                  <a:srgbClr val="3D3D3D"/>
                </a:solidFill>
                <a:latin typeface="Calibri" pitchFamily="34" charset="0"/>
                <a:ea typeface="Calibri" pitchFamily="34" charset="-122"/>
                <a:cs typeface="Calibri" pitchFamily="34" charset="-120"/>
              </a:rPr>
              <a:t>Positive</a:t>
            </a:r>
            <a:endParaRPr lang="en-US" sz="1500" dirty="0"/>
          </a:p>
        </p:txBody>
      </p:sp>
      <p:sp>
        <p:nvSpPr>
          <p:cNvPr id="26" name="Text 24"/>
          <p:cNvSpPr/>
          <p:nvPr/>
        </p:nvSpPr>
        <p:spPr>
          <a:xfrm>
            <a:off x="9692640" y="3712464"/>
            <a:ext cx="1645920" cy="457200"/>
          </a:xfrm>
          <a:prstGeom prst="rect">
            <a:avLst/>
          </a:prstGeom>
          <a:noFill/>
          <a:ln/>
        </p:spPr>
        <p:txBody>
          <a:bodyPr wrap="square" lIns="0" tIns="0" rIns="0" bIns="0" rtlCol="0" anchor="ctr"/>
          <a:lstStyle/>
          <a:p>
            <a:pPr marL="0" indent="0" algn="r">
              <a:buNone/>
            </a:pPr>
            <a:r>
              <a:rPr lang="en-US" sz="2200" b="1" dirty="0">
                <a:solidFill>
                  <a:srgbClr val="1A1A1A"/>
                </a:solidFill>
                <a:latin typeface="Cambria" pitchFamily="34" charset="0"/>
                <a:ea typeface="Cambria" pitchFamily="34" charset="-122"/>
                <a:cs typeface="Cambria" pitchFamily="34" charset="-120"/>
              </a:rPr>
              <a:t>19%</a:t>
            </a:r>
            <a:endParaRPr lang="en-US" sz="2200" dirty="0"/>
          </a:p>
        </p:txBody>
      </p:sp>
      <p:sp>
        <p:nvSpPr>
          <p:cNvPr id="27" name="Text 25"/>
          <p:cNvSpPr/>
          <p:nvPr/>
        </p:nvSpPr>
        <p:spPr>
          <a:xfrm>
            <a:off x="566928" y="4892040"/>
            <a:ext cx="6400800" cy="640080"/>
          </a:xfrm>
          <a:prstGeom prst="rect">
            <a:avLst/>
          </a:prstGeom>
          <a:noFill/>
          <a:ln/>
        </p:spPr>
        <p:txBody>
          <a:bodyPr wrap="square" lIns="0" tIns="0" rIns="0" bIns="0" rtlCol="0" anchor="ctr"/>
          <a:lstStyle/>
          <a:p>
            <a:pPr marL="0" indent="0">
              <a:lnSpc>
                <a:spcPts val="1600"/>
              </a:lnSpc>
              <a:buNone/>
            </a:pPr>
            <a:r>
              <a:rPr lang="en-US" sz="1200" i="1" dirty="0">
                <a:solidFill>
                  <a:srgbClr val="767676"/>
                </a:solidFill>
                <a:latin typeface="Calibri" pitchFamily="34" charset="0"/>
                <a:ea typeface="Calibri" pitchFamily="34" charset="-122"/>
                <a:cs typeface="Calibri" pitchFamily="34" charset="-120"/>
              </a:rPr>
              <a:t>A further 25 comments where the methods most disagreed were labelled for error analysis only — never counted in any accuracy figure.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384048"/>
            <a:ext cx="11091672" cy="566928"/>
          </a:xfrm>
          <a:prstGeom prst="rect">
            <a:avLst/>
          </a:prstGeom>
          <a:noFill/>
          <a:ln/>
        </p:spPr>
        <p:txBody>
          <a:bodyPr wrap="square" lIns="0" tIns="0" rIns="0" bIns="0" rtlCol="0" anchor="ctr"/>
          <a:lstStyle/>
          <a:p>
            <a:pPr marL="0" indent="0">
              <a:buNone/>
            </a:pPr>
            <a:r>
              <a:rPr lang="en-US" sz="3000" b="1" dirty="0">
                <a:solidFill>
                  <a:srgbClr val="1A1A1A"/>
                </a:solidFill>
                <a:latin typeface="Cambria" pitchFamily="34" charset="0"/>
                <a:ea typeface="Cambria" pitchFamily="34" charset="-122"/>
                <a:cs typeface="Cambria" pitchFamily="34" charset="-120"/>
              </a:rPr>
              <a:t>One method is clearly more accurate</a:t>
            </a:r>
            <a:endParaRPr lang="en-US" sz="3000" dirty="0"/>
          </a:p>
        </p:txBody>
      </p:sp>
      <p:sp>
        <p:nvSpPr>
          <p:cNvPr id="3" name="Text 1"/>
          <p:cNvSpPr/>
          <p:nvPr/>
        </p:nvSpPr>
        <p:spPr>
          <a:xfrm>
            <a:off x="548640" y="950976"/>
            <a:ext cx="11091672" cy="310896"/>
          </a:xfrm>
          <a:prstGeom prst="rect">
            <a:avLst/>
          </a:prstGeom>
          <a:noFill/>
          <a:ln/>
        </p:spPr>
        <p:txBody>
          <a:bodyPr wrap="square" lIns="0" tIns="0" rIns="0" bIns="0" rtlCol="0" anchor="ctr"/>
          <a:lstStyle/>
          <a:p>
            <a:pPr marL="0" indent="0">
              <a:buNone/>
            </a:pPr>
            <a:r>
              <a:rPr lang="en-US" sz="1400" i="1" dirty="0">
                <a:solidFill>
                  <a:srgbClr val="767676"/>
                </a:solidFill>
                <a:latin typeface="Calibri" pitchFamily="34" charset="0"/>
                <a:ea typeface="Calibri" pitchFamily="34" charset="-122"/>
                <a:cs typeface="Calibri" pitchFamily="34" charset="-120"/>
              </a:rPr>
              <a:t>Scored against the 100 hand-labelled comments</a:t>
            </a:r>
            <a:endParaRPr lang="en-US" sz="1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6858000" cy="1752600"/>
        </p:xfrm>
        <a:graphic>
          <a:graphicData uri="http://schemas.openxmlformats.org/drawingml/2006/table">
            <a:tbl>
              <a:tblPr/>
              <a:tblGrid>
                <a:gridCol w="246888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tblGrid>
              <a:tr h="0">
                <a:tc>
                  <a:txBody>
                    <a:bodyPr/>
                    <a:lstStyle/>
                    <a:p>
                      <a:pPr marL="0" indent="0" algn="l">
                        <a:buNone/>
                      </a:pPr>
                      <a:r>
                        <a:rPr lang="en-US" sz="1300" b="1" dirty="0">
                          <a:solidFill>
                            <a:srgbClr val="1A1A1A"/>
                          </a:solidFill>
                          <a:latin typeface="Calibri" pitchFamily="34" charset="0"/>
                          <a:ea typeface="Calibri" pitchFamily="34" charset="-122"/>
                          <a:cs typeface="Calibri" pitchFamily="34" charset="-120"/>
                        </a:rPr>
                        <a:t>Method</a:t>
                      </a:r>
                      <a:endParaRPr lang="en-US" sz="1300" dirty="0">
                        <a:latin typeface="Calibri" charset="0"/>
                        <a:ea typeface="Calibri" charset="0"/>
                        <a:cs typeface="Calibri" charset="0"/>
                      </a:endParaRPr>
                    </a:p>
                  </a:txBody>
                  <a:tcPr marL="101600" marR="101600" marT="76200" marB="762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4F4F4"/>
                    </a:solidFill>
                  </a:tcPr>
                </a:tc>
                <a:tc>
                  <a:txBody>
                    <a:bodyPr/>
                    <a:lstStyle/>
                    <a:p>
                      <a:pPr marL="0" indent="0" algn="r">
                        <a:buNone/>
                      </a:pPr>
                      <a:r>
                        <a:rPr lang="en-US" sz="1300" b="1" dirty="0">
                          <a:solidFill>
                            <a:srgbClr val="1A1A1A"/>
                          </a:solidFill>
                          <a:latin typeface="Calibri" pitchFamily="34" charset="0"/>
                          <a:ea typeface="Calibri" pitchFamily="34" charset="-122"/>
                          <a:cs typeface="Calibri" pitchFamily="34" charset="-120"/>
                        </a:rPr>
                        <a:t>Accuracy</a:t>
                      </a:r>
                      <a:endParaRPr lang="en-US" sz="1300" dirty="0">
                        <a:latin typeface="Calibri" charset="0"/>
                        <a:ea typeface="Calibri" charset="0"/>
                        <a:cs typeface="Calibri" charset="0"/>
                      </a:endParaRPr>
                    </a:p>
                  </a:txBody>
                  <a:tcPr marL="101600" marR="101600" marT="76200" marB="762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4F4F4"/>
                    </a:solidFill>
                  </a:tcPr>
                </a:tc>
                <a:tc>
                  <a:txBody>
                    <a:bodyPr/>
                    <a:lstStyle/>
                    <a:p>
                      <a:pPr marL="0" indent="0" algn="r">
                        <a:buNone/>
                      </a:pPr>
                      <a:r>
                        <a:rPr lang="en-US" sz="1300" b="1" dirty="0">
                          <a:solidFill>
                            <a:srgbClr val="1A1A1A"/>
                          </a:solidFill>
                          <a:latin typeface="Calibri" pitchFamily="34" charset="0"/>
                          <a:ea typeface="Calibri" pitchFamily="34" charset="-122"/>
                          <a:cs typeface="Calibri" pitchFamily="34" charset="-120"/>
                        </a:rPr>
                        <a:t>Macro-F1</a:t>
                      </a:r>
                      <a:endParaRPr lang="en-US" sz="1300" dirty="0">
                        <a:latin typeface="Calibri" charset="0"/>
                        <a:ea typeface="Calibri" charset="0"/>
                        <a:cs typeface="Calibri" charset="0"/>
                      </a:endParaRPr>
                    </a:p>
                  </a:txBody>
                  <a:tcPr marL="101600" marR="101600" marT="76200" marB="762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4F4F4"/>
                    </a:solidFill>
                  </a:tcPr>
                </a:tc>
                <a:tc>
                  <a:txBody>
                    <a:bodyPr/>
                    <a:lstStyle/>
                    <a:p>
                      <a:pPr marL="0" indent="0" algn="r">
                        <a:buNone/>
                      </a:pPr>
                      <a:r>
                        <a:rPr lang="en-US" sz="1300" b="1" dirty="0">
                          <a:solidFill>
                            <a:srgbClr val="1A1A1A"/>
                          </a:solidFill>
                          <a:latin typeface="Calibri" pitchFamily="34" charset="0"/>
                          <a:ea typeface="Calibri" pitchFamily="34" charset="-122"/>
                          <a:cs typeface="Calibri" pitchFamily="34" charset="-120"/>
                        </a:rPr>
                        <a:t>F1 neutral</a:t>
                      </a:r>
                      <a:endParaRPr lang="en-US" sz="1300" dirty="0">
                        <a:latin typeface="Calibri" charset="0"/>
                        <a:ea typeface="Calibri" charset="0"/>
                        <a:cs typeface="Calibri" charset="0"/>
                      </a:endParaRPr>
                    </a:p>
                  </a:txBody>
                  <a:tcPr marL="101600" marR="101600" marT="76200" marB="762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4F4F4"/>
                    </a:solidFill>
                  </a:tcPr>
                </a:tc>
                <a:extLst>
                  <a:ext uri="{0D108BD9-81ED-4DB2-BD59-A6C34878D82A}">
                    <a16:rowId xmlns:a16="http://schemas.microsoft.com/office/drawing/2014/main" val="10000"/>
                  </a:ext>
                </a:extLst>
              </a:tr>
              <a:tr h="0">
                <a:tc>
                  <a:txBody>
                    <a:bodyPr/>
                    <a:lstStyle/>
                    <a:p>
                      <a:pPr marL="0" indent="0" algn="l">
                        <a:buNone/>
                      </a:pPr>
                      <a:r>
                        <a:rPr lang="en-US" sz="1300" b="1" dirty="0">
                          <a:solidFill>
                            <a:srgbClr val="3D3D3D"/>
                          </a:solidFill>
                          <a:latin typeface="Calibri" pitchFamily="34" charset="0"/>
                          <a:ea typeface="Calibri" pitchFamily="34" charset="-122"/>
                          <a:cs typeface="Calibri" pitchFamily="34" charset="-120"/>
                        </a:rPr>
                        <a:t>Twitter-RoBERTa</a:t>
                      </a:r>
                      <a:endParaRPr lang="en-US" sz="1300" dirty="0">
                        <a:latin typeface="Calibri" charset="0"/>
                        <a:ea typeface="Calibri" charset="0"/>
                        <a:cs typeface="Calibri" charset="0"/>
                      </a:endParaRPr>
                    </a:p>
                  </a:txBody>
                  <a:tcPr marL="101600" marR="101600" marT="76200" marB="762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EAF1EE"/>
                    </a:solidFill>
                  </a:tcPr>
                </a:tc>
                <a:tc>
                  <a:txBody>
                    <a:bodyPr/>
                    <a:lstStyle/>
                    <a:p>
                      <a:pPr marL="0" indent="0" algn="r">
                        <a:buNone/>
                      </a:pPr>
                      <a:r>
                        <a:rPr lang="en-US" sz="1300" b="1" dirty="0">
                          <a:solidFill>
                            <a:srgbClr val="3D3D3D"/>
                          </a:solidFill>
                          <a:latin typeface="Calibri" pitchFamily="34" charset="0"/>
                          <a:ea typeface="Calibri" pitchFamily="34" charset="-122"/>
                          <a:cs typeface="Calibri" pitchFamily="34" charset="-120"/>
                        </a:rPr>
                        <a:t>70.0%</a:t>
                      </a:r>
                      <a:endParaRPr lang="en-US" sz="1300" dirty="0">
                        <a:latin typeface="Calibri" charset="0"/>
                        <a:ea typeface="Calibri" charset="0"/>
                        <a:cs typeface="Calibri" charset="0"/>
                      </a:endParaRPr>
                    </a:p>
                  </a:txBody>
                  <a:tcPr marL="101600" marR="101600" marT="76200" marB="762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EAF1EE"/>
                    </a:solidFill>
                  </a:tcPr>
                </a:tc>
                <a:tc>
                  <a:txBody>
                    <a:bodyPr/>
                    <a:lstStyle/>
                    <a:p>
                      <a:pPr marL="0" indent="0" algn="r">
                        <a:buNone/>
                      </a:pPr>
                      <a:r>
                        <a:rPr lang="en-US" sz="1300" b="1" dirty="0">
                          <a:solidFill>
                            <a:srgbClr val="3D3D3D"/>
                          </a:solidFill>
                          <a:latin typeface="Calibri" pitchFamily="34" charset="0"/>
                          <a:ea typeface="Calibri" pitchFamily="34" charset="-122"/>
                          <a:cs typeface="Calibri" pitchFamily="34" charset="-120"/>
                        </a:rPr>
                        <a:t>70.3</a:t>
                      </a:r>
                      <a:endParaRPr lang="en-US" sz="1300" dirty="0">
                        <a:latin typeface="Calibri" charset="0"/>
                        <a:ea typeface="Calibri" charset="0"/>
                        <a:cs typeface="Calibri" charset="0"/>
                      </a:endParaRPr>
                    </a:p>
                  </a:txBody>
                  <a:tcPr marL="101600" marR="101600" marT="76200" marB="762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EAF1EE"/>
                    </a:solidFill>
                  </a:tcPr>
                </a:tc>
                <a:tc>
                  <a:txBody>
                    <a:bodyPr/>
                    <a:lstStyle/>
                    <a:p>
                      <a:pPr marL="0" indent="0" algn="r">
                        <a:buNone/>
                      </a:pPr>
                      <a:r>
                        <a:rPr lang="en-US" sz="1300" b="1" dirty="0">
                          <a:solidFill>
                            <a:srgbClr val="3D3D3D"/>
                          </a:solidFill>
                          <a:latin typeface="Calibri" pitchFamily="34" charset="0"/>
                          <a:ea typeface="Calibri" pitchFamily="34" charset="-122"/>
                          <a:cs typeface="Calibri" pitchFamily="34" charset="-120"/>
                        </a:rPr>
                        <a:t>64.1</a:t>
                      </a:r>
                      <a:endParaRPr lang="en-US" sz="1300" dirty="0">
                        <a:latin typeface="Calibri" charset="0"/>
                        <a:ea typeface="Calibri" charset="0"/>
                        <a:cs typeface="Calibri" charset="0"/>
                      </a:endParaRPr>
                    </a:p>
                  </a:txBody>
                  <a:tcPr marL="101600" marR="101600" marT="76200" marB="762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EAF1EE"/>
                    </a:solidFill>
                  </a:tcPr>
                </a:tc>
                <a:extLst>
                  <a:ext uri="{0D108BD9-81ED-4DB2-BD59-A6C34878D82A}">
                    <a16:rowId xmlns:a16="http://schemas.microsoft.com/office/drawing/2014/main" val="10001"/>
                  </a:ext>
                </a:extLst>
              </a:tr>
              <a:tr h="0">
                <a:tc>
                  <a:txBody>
                    <a:bodyPr/>
                    <a:lstStyle/>
                    <a:p>
                      <a:pPr marL="0" indent="0" algn="l">
                        <a:buNone/>
                      </a:pPr>
                      <a:r>
                        <a:rPr lang="en-US" sz="1300" dirty="0">
                          <a:solidFill>
                            <a:srgbClr val="3D3D3D"/>
                          </a:solidFill>
                          <a:latin typeface="Calibri" pitchFamily="34" charset="0"/>
                          <a:ea typeface="Calibri" pitchFamily="34" charset="-122"/>
                          <a:cs typeface="Calibri" pitchFamily="34" charset="-120"/>
                        </a:rPr>
                        <a:t>TextBlob</a:t>
                      </a:r>
                      <a:endParaRPr lang="en-US" sz="1300" dirty="0">
                        <a:latin typeface="Calibri" charset="0"/>
                        <a:ea typeface="Calibri" charset="0"/>
                        <a:cs typeface="Calibri" charset="0"/>
                      </a:endParaRPr>
                    </a:p>
                  </a:txBody>
                  <a:tcPr marL="101600" marR="101600" marT="76200" marB="762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tcPr>
                </a:tc>
                <a:tc>
                  <a:txBody>
                    <a:bodyPr/>
                    <a:lstStyle/>
                    <a:p>
                      <a:pPr marL="0" indent="0" algn="r">
                        <a:buNone/>
                      </a:pPr>
                      <a:r>
                        <a:rPr lang="en-US" sz="1300" dirty="0">
                          <a:solidFill>
                            <a:srgbClr val="3D3D3D"/>
                          </a:solidFill>
                          <a:latin typeface="Calibri" pitchFamily="34" charset="0"/>
                          <a:ea typeface="Calibri" pitchFamily="34" charset="-122"/>
                          <a:cs typeface="Calibri" pitchFamily="34" charset="-120"/>
                        </a:rPr>
                        <a:t>50.0%</a:t>
                      </a:r>
                      <a:endParaRPr lang="en-US" sz="1300" dirty="0">
                        <a:latin typeface="Calibri" charset="0"/>
                        <a:ea typeface="Calibri" charset="0"/>
                        <a:cs typeface="Calibri" charset="0"/>
                      </a:endParaRPr>
                    </a:p>
                  </a:txBody>
                  <a:tcPr marL="101600" marR="101600" marT="76200" marB="762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tcPr>
                </a:tc>
                <a:tc>
                  <a:txBody>
                    <a:bodyPr/>
                    <a:lstStyle/>
                    <a:p>
                      <a:pPr marL="0" indent="0" algn="r">
                        <a:buNone/>
                      </a:pPr>
                      <a:r>
                        <a:rPr lang="en-US" sz="1300" dirty="0">
                          <a:solidFill>
                            <a:srgbClr val="3D3D3D"/>
                          </a:solidFill>
                          <a:latin typeface="Calibri" pitchFamily="34" charset="0"/>
                          <a:ea typeface="Calibri" pitchFamily="34" charset="-122"/>
                          <a:cs typeface="Calibri" pitchFamily="34" charset="-120"/>
                        </a:rPr>
                        <a:t>49.7</a:t>
                      </a:r>
                      <a:endParaRPr lang="en-US" sz="1300" dirty="0">
                        <a:latin typeface="Calibri" charset="0"/>
                        <a:ea typeface="Calibri" charset="0"/>
                        <a:cs typeface="Calibri" charset="0"/>
                      </a:endParaRPr>
                    </a:p>
                  </a:txBody>
                  <a:tcPr marL="101600" marR="101600" marT="76200" marB="762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tcPr>
                </a:tc>
                <a:tc>
                  <a:txBody>
                    <a:bodyPr/>
                    <a:lstStyle/>
                    <a:p>
                      <a:pPr marL="0" indent="0" algn="r">
                        <a:buNone/>
                      </a:pPr>
                      <a:r>
                        <a:rPr lang="en-US" sz="1300" dirty="0">
                          <a:solidFill>
                            <a:srgbClr val="3D3D3D"/>
                          </a:solidFill>
                          <a:latin typeface="Calibri" pitchFamily="34" charset="0"/>
                          <a:ea typeface="Calibri" pitchFamily="34" charset="-122"/>
                          <a:cs typeface="Calibri" pitchFamily="34" charset="-120"/>
                        </a:rPr>
                        <a:t>44.4</a:t>
                      </a:r>
                      <a:endParaRPr lang="en-US" sz="1300" dirty="0">
                        <a:latin typeface="Calibri" charset="0"/>
                        <a:ea typeface="Calibri" charset="0"/>
                        <a:cs typeface="Calibri" charset="0"/>
                      </a:endParaRPr>
                    </a:p>
                  </a:txBody>
                  <a:tcPr marL="101600" marR="101600" marT="76200" marB="762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lgn="l">
                        <a:buNone/>
                      </a:pPr>
                      <a:r>
                        <a:rPr lang="en-US" sz="1300" dirty="0">
                          <a:solidFill>
                            <a:srgbClr val="3D3D3D"/>
                          </a:solidFill>
                          <a:latin typeface="Calibri" pitchFamily="34" charset="0"/>
                          <a:ea typeface="Calibri" pitchFamily="34" charset="-122"/>
                          <a:cs typeface="Calibri" pitchFamily="34" charset="-120"/>
                        </a:rPr>
                        <a:t>VADER</a:t>
                      </a:r>
                      <a:endParaRPr lang="en-US" sz="1300" dirty="0">
                        <a:latin typeface="Calibri" charset="0"/>
                        <a:ea typeface="Calibri" charset="0"/>
                        <a:cs typeface="Calibri" charset="0"/>
                      </a:endParaRPr>
                    </a:p>
                  </a:txBody>
                  <a:tcPr marL="101600" marR="101600" marT="76200" marB="762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tcPr>
                </a:tc>
                <a:tc>
                  <a:txBody>
                    <a:bodyPr/>
                    <a:lstStyle/>
                    <a:p>
                      <a:pPr marL="0" indent="0" algn="r">
                        <a:buNone/>
                      </a:pPr>
                      <a:r>
                        <a:rPr lang="en-US" sz="1300" dirty="0">
                          <a:solidFill>
                            <a:srgbClr val="3D3D3D"/>
                          </a:solidFill>
                          <a:latin typeface="Calibri" pitchFamily="34" charset="0"/>
                          <a:ea typeface="Calibri" pitchFamily="34" charset="-122"/>
                          <a:cs typeface="Calibri" pitchFamily="34" charset="-120"/>
                        </a:rPr>
                        <a:t>49.0%</a:t>
                      </a:r>
                      <a:endParaRPr lang="en-US" sz="1300" dirty="0">
                        <a:latin typeface="Calibri" charset="0"/>
                        <a:ea typeface="Calibri" charset="0"/>
                        <a:cs typeface="Calibri" charset="0"/>
                      </a:endParaRPr>
                    </a:p>
                  </a:txBody>
                  <a:tcPr marL="101600" marR="101600" marT="76200" marB="762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tcPr>
                </a:tc>
                <a:tc>
                  <a:txBody>
                    <a:bodyPr/>
                    <a:lstStyle/>
                    <a:p>
                      <a:pPr marL="0" indent="0" algn="r">
                        <a:buNone/>
                      </a:pPr>
                      <a:r>
                        <a:rPr lang="en-US" sz="1300" dirty="0">
                          <a:solidFill>
                            <a:srgbClr val="3D3D3D"/>
                          </a:solidFill>
                          <a:latin typeface="Calibri" pitchFamily="34" charset="0"/>
                          <a:ea typeface="Calibri" pitchFamily="34" charset="-122"/>
                          <a:cs typeface="Calibri" pitchFamily="34" charset="-120"/>
                        </a:rPr>
                        <a:t>47.2</a:t>
                      </a:r>
                      <a:endParaRPr lang="en-US" sz="1300" dirty="0">
                        <a:latin typeface="Calibri" charset="0"/>
                        <a:ea typeface="Calibri" charset="0"/>
                        <a:cs typeface="Calibri" charset="0"/>
                      </a:endParaRPr>
                    </a:p>
                  </a:txBody>
                  <a:tcPr marL="101600" marR="101600" marT="76200" marB="762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tcPr>
                </a:tc>
                <a:tc>
                  <a:txBody>
                    <a:bodyPr/>
                    <a:lstStyle/>
                    <a:p>
                      <a:pPr marL="0" indent="0" algn="r">
                        <a:buNone/>
                      </a:pPr>
                      <a:r>
                        <a:rPr lang="en-US" sz="1300" dirty="0">
                          <a:solidFill>
                            <a:srgbClr val="3D3D3D"/>
                          </a:solidFill>
                          <a:latin typeface="Calibri" pitchFamily="34" charset="0"/>
                          <a:ea typeface="Calibri" pitchFamily="34" charset="-122"/>
                          <a:cs typeface="Calibri" pitchFamily="34" charset="-120"/>
                        </a:rPr>
                        <a:t>37.7</a:t>
                      </a:r>
                      <a:endParaRPr lang="en-US" sz="1300" dirty="0">
                        <a:latin typeface="Calibri" charset="0"/>
                        <a:ea typeface="Calibri" charset="0"/>
                        <a:cs typeface="Calibri" charset="0"/>
                      </a:endParaRPr>
                    </a:p>
                  </a:txBody>
                  <a:tcPr marL="101600" marR="101600" marT="76200" marB="762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indent="0" algn="l">
                        <a:buNone/>
                      </a:pPr>
                      <a:r>
                        <a:rPr lang="en-US" sz="1300" dirty="0">
                          <a:solidFill>
                            <a:srgbClr val="3D3D3D"/>
                          </a:solidFill>
                          <a:latin typeface="Calibri" pitchFamily="34" charset="0"/>
                          <a:ea typeface="Calibri" pitchFamily="34" charset="-122"/>
                          <a:cs typeface="Calibri" pitchFamily="34" charset="-120"/>
                        </a:rPr>
                        <a:t>BERT</a:t>
                      </a:r>
                      <a:endParaRPr lang="en-US" sz="1300" dirty="0">
                        <a:latin typeface="Calibri" charset="0"/>
                        <a:ea typeface="Calibri" charset="0"/>
                        <a:cs typeface="Calibri" charset="0"/>
                      </a:endParaRPr>
                    </a:p>
                  </a:txBody>
                  <a:tcPr marL="101600" marR="101600" marT="76200" marB="762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tcPr>
                </a:tc>
                <a:tc>
                  <a:txBody>
                    <a:bodyPr/>
                    <a:lstStyle/>
                    <a:p>
                      <a:pPr marL="0" indent="0" algn="r">
                        <a:buNone/>
                      </a:pPr>
                      <a:r>
                        <a:rPr lang="en-US" sz="1300" dirty="0">
                          <a:solidFill>
                            <a:srgbClr val="3D3D3D"/>
                          </a:solidFill>
                          <a:latin typeface="Calibri" pitchFamily="34" charset="0"/>
                          <a:ea typeface="Calibri" pitchFamily="34" charset="-122"/>
                          <a:cs typeface="Calibri" pitchFamily="34" charset="-120"/>
                        </a:rPr>
                        <a:t>50.0%</a:t>
                      </a:r>
                      <a:endParaRPr lang="en-US" sz="1300" dirty="0">
                        <a:latin typeface="Calibri" charset="0"/>
                        <a:ea typeface="Calibri" charset="0"/>
                        <a:cs typeface="Calibri" charset="0"/>
                      </a:endParaRPr>
                    </a:p>
                  </a:txBody>
                  <a:tcPr marL="101600" marR="101600" marT="76200" marB="762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tcPr>
                </a:tc>
                <a:tc>
                  <a:txBody>
                    <a:bodyPr/>
                    <a:lstStyle/>
                    <a:p>
                      <a:pPr marL="0" indent="0" algn="r">
                        <a:buNone/>
                      </a:pPr>
                      <a:r>
                        <a:rPr lang="en-US" sz="1300" dirty="0">
                          <a:solidFill>
                            <a:srgbClr val="3D3D3D"/>
                          </a:solidFill>
                          <a:latin typeface="Calibri" pitchFamily="34" charset="0"/>
                          <a:ea typeface="Calibri" pitchFamily="34" charset="-122"/>
                          <a:cs typeface="Calibri" pitchFamily="34" charset="-120"/>
                        </a:rPr>
                        <a:t>44.4</a:t>
                      </a:r>
                      <a:endParaRPr lang="en-US" sz="1300" dirty="0">
                        <a:latin typeface="Calibri" charset="0"/>
                        <a:ea typeface="Calibri" charset="0"/>
                        <a:cs typeface="Calibri" charset="0"/>
                      </a:endParaRPr>
                    </a:p>
                  </a:txBody>
                  <a:tcPr marL="101600" marR="101600" marT="76200" marB="762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tcPr>
                </a:tc>
                <a:tc>
                  <a:txBody>
                    <a:bodyPr/>
                    <a:lstStyle/>
                    <a:p>
                      <a:pPr marL="0" indent="0" algn="r">
                        <a:buNone/>
                      </a:pPr>
                      <a:r>
                        <a:rPr lang="en-US" sz="1300" b="1" dirty="0">
                          <a:solidFill>
                            <a:srgbClr val="B23B3B"/>
                          </a:solidFill>
                          <a:latin typeface="Calibri" pitchFamily="34" charset="0"/>
                          <a:ea typeface="Calibri" pitchFamily="34" charset="-122"/>
                          <a:cs typeface="Calibri" pitchFamily="34" charset="-120"/>
                        </a:rPr>
                        <a:t>17.8</a:t>
                      </a:r>
                      <a:endParaRPr lang="en-US" sz="1300" dirty="0">
                        <a:latin typeface="Calibri" charset="0"/>
                        <a:ea typeface="Calibri" charset="0"/>
                        <a:cs typeface="Calibri" charset="0"/>
                      </a:endParaRPr>
                    </a:p>
                  </a:txBody>
                  <a:tcPr marL="101600" marR="101600" marT="76200" marB="762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Text 2"/>
          <p:cNvSpPr/>
          <p:nvPr/>
        </p:nvSpPr>
        <p:spPr>
          <a:xfrm>
            <a:off x="548640" y="3913632"/>
            <a:ext cx="6858000" cy="914400"/>
          </a:xfrm>
          <a:prstGeom prst="rect">
            <a:avLst/>
          </a:prstGeom>
          <a:noFill/>
          <a:ln/>
        </p:spPr>
        <p:txBody>
          <a:bodyPr wrap="square" lIns="0" tIns="0" rIns="0" bIns="0" rtlCol="0" anchor="ctr"/>
          <a:lstStyle/>
          <a:p>
            <a:pPr marL="0" indent="0">
              <a:lnSpc>
                <a:spcPts val="1800"/>
              </a:lnSpc>
              <a:buNone/>
            </a:pPr>
            <a:r>
              <a:rPr lang="en-US" sz="1300" b="1" dirty="0">
                <a:solidFill>
                  <a:srgbClr val="3D3D3D"/>
                </a:solidFill>
                <a:latin typeface="Calibri" pitchFamily="34" charset="0"/>
                <a:ea typeface="Calibri" pitchFamily="34" charset="-122"/>
                <a:cs typeface="Calibri" pitchFamily="34" charset="-120"/>
              </a:rPr>
              <a:t>Why macro-F1.  </a:t>
            </a:r>
            <a:r>
              <a:rPr lang="en-US" sz="1300" dirty="0">
                <a:solidFill>
                  <a:srgbClr val="3D3D3D"/>
                </a:solidFill>
                <a:latin typeface="Calibri" pitchFamily="34" charset="0"/>
                <a:ea typeface="Calibri" pitchFamily="34" charset="-122"/>
                <a:cs typeface="Calibri" pitchFamily="34" charset="-120"/>
              </a:rPr>
              <a:t>It weights all three classes equally rather than letting the largest dominate. TextBlob and BERT record identical accuracy and look equivalent — macro-F1 separates them by five points, because BERT catches only 4 of the 37 neutral comments.</a:t>
            </a:r>
            <a:endParaRPr lang="en-US" sz="1300" dirty="0"/>
          </a:p>
        </p:txBody>
      </p:sp>
      <p:sp>
        <p:nvSpPr>
          <p:cNvPr id="6" name="Text 3"/>
          <p:cNvSpPr/>
          <p:nvPr/>
        </p:nvSpPr>
        <p:spPr>
          <a:xfrm>
            <a:off x="548640" y="4846320"/>
            <a:ext cx="6858000" cy="914400"/>
          </a:xfrm>
          <a:prstGeom prst="rect">
            <a:avLst/>
          </a:prstGeom>
          <a:noFill/>
          <a:ln/>
        </p:spPr>
        <p:txBody>
          <a:bodyPr wrap="square" lIns="0" tIns="0" rIns="0" bIns="0" rtlCol="0" anchor="ctr"/>
          <a:lstStyle/>
          <a:p>
            <a:pPr marL="0" indent="0">
              <a:lnSpc>
                <a:spcPts val="1800"/>
              </a:lnSpc>
              <a:buNone/>
            </a:pPr>
            <a:r>
              <a:rPr lang="en-US" sz="1300" b="1" dirty="0">
                <a:solidFill>
                  <a:srgbClr val="3D3D3D"/>
                </a:solidFill>
                <a:latin typeface="Calibri" pitchFamily="34" charset="0"/>
                <a:ea typeface="Calibri" pitchFamily="34" charset="-122"/>
                <a:cs typeface="Calibri" pitchFamily="34" charset="-120"/>
              </a:rPr>
              <a:t>Is the gap real?  </a:t>
            </a:r>
            <a:r>
              <a:rPr lang="en-US" sz="1300" dirty="0">
                <a:solidFill>
                  <a:srgbClr val="3D3D3D"/>
                </a:solidFill>
                <a:latin typeface="Calibri" pitchFamily="34" charset="0"/>
                <a:ea typeface="Calibri" pitchFamily="34" charset="-122"/>
                <a:cs typeface="Calibri" pitchFamily="34" charset="-120"/>
              </a:rPr>
              <a:t>Comparing each pair on only the comments where they disagreed, RoBERTa beats all three (p = 0.000, 0.002, 0.003). The other three are statistically indistinguishable — the ranking is RoBERTa first, then a three-way tie.</a:t>
            </a:r>
            <a:endParaRPr lang="en-US" sz="1300" dirty="0"/>
          </a:p>
        </p:txBody>
      </p:sp>
      <p:sp>
        <p:nvSpPr>
          <p:cNvPr id="7" name="Shape 4"/>
          <p:cNvSpPr/>
          <p:nvPr/>
        </p:nvSpPr>
        <p:spPr>
          <a:xfrm>
            <a:off x="7772400" y="1481328"/>
            <a:ext cx="3867912" cy="4498848"/>
          </a:xfrm>
          <a:prstGeom prst="roundRect">
            <a:avLst>
              <a:gd name="adj" fmla="val 1182"/>
            </a:avLst>
          </a:prstGeom>
          <a:solidFill>
            <a:srgbClr val="F4F4F4"/>
          </a:solidFill>
          <a:ln w="9525">
            <a:solidFill>
              <a:srgbClr val="D8D8D8"/>
            </a:solidFill>
            <a:prstDash val="solid"/>
          </a:ln>
        </p:spPr>
        <p:txBody>
          <a:bodyPr/>
          <a:lstStyle/>
          <a:p>
            <a:endParaRPr lang="en-US"/>
          </a:p>
        </p:txBody>
      </p:sp>
      <p:sp>
        <p:nvSpPr>
          <p:cNvPr id="4" name="Text 5"/>
          <p:cNvSpPr/>
          <p:nvPr/>
        </p:nvSpPr>
        <p:spPr>
          <a:xfrm>
            <a:off x="8092440" y="1719072"/>
            <a:ext cx="3246120" cy="292608"/>
          </a:xfrm>
          <a:prstGeom prst="rect">
            <a:avLst/>
          </a:prstGeom>
          <a:noFill/>
          <a:ln/>
        </p:spPr>
        <p:txBody>
          <a:bodyPr wrap="square" lIns="0" tIns="0" rIns="0" bIns="0" rtlCol="0" anchor="ctr"/>
          <a:lstStyle/>
          <a:p>
            <a:pPr marL="0" indent="0">
              <a:buNone/>
            </a:pPr>
            <a:r>
              <a:rPr lang="en-US" sz="1600" b="1" dirty="0">
                <a:solidFill>
                  <a:srgbClr val="1A1A1A"/>
                </a:solidFill>
                <a:latin typeface="Cambria" pitchFamily="34" charset="0"/>
                <a:ea typeface="Cambria" pitchFamily="34" charset="-122"/>
                <a:cs typeface="Cambria" pitchFamily="34" charset="-120"/>
              </a:rPr>
              <a:t>Characteristic errors</a:t>
            </a:r>
            <a:endParaRPr lang="en-US" sz="1600" dirty="0"/>
          </a:p>
        </p:txBody>
      </p:sp>
      <p:sp>
        <p:nvSpPr>
          <p:cNvPr id="9" name="Text 6"/>
          <p:cNvSpPr/>
          <p:nvPr/>
        </p:nvSpPr>
        <p:spPr>
          <a:xfrm>
            <a:off x="8092440" y="2103120"/>
            <a:ext cx="3246120" cy="1371600"/>
          </a:xfrm>
          <a:prstGeom prst="rect">
            <a:avLst/>
          </a:prstGeom>
          <a:noFill/>
          <a:ln/>
        </p:spPr>
        <p:txBody>
          <a:bodyPr wrap="square" lIns="0" tIns="0" rIns="0" bIns="0" rtlCol="0" anchor="ctr"/>
          <a:lstStyle/>
          <a:p>
            <a:pPr marL="0" indent="0">
              <a:lnSpc>
                <a:spcPts val="1500"/>
              </a:lnSpc>
              <a:buNone/>
            </a:pPr>
            <a:r>
              <a:rPr lang="en-US" sz="1200" b="1" dirty="0">
                <a:solidFill>
                  <a:srgbClr val="1A1A1A"/>
                </a:solidFill>
                <a:latin typeface="Calibri" pitchFamily="34" charset="0"/>
                <a:ea typeface="Calibri" pitchFamily="34" charset="-122"/>
                <a:cs typeface="Calibri" pitchFamily="34" charset="-120"/>
              </a:rPr>
              <a:t>Lexicons</a:t>
            </a:r>
            <a:endParaRPr lang="en-US" sz="1200" dirty="0"/>
          </a:p>
          <a:p>
            <a:pPr marL="0" indent="0">
              <a:lnSpc>
                <a:spcPts val="1500"/>
              </a:lnSpc>
              <a:buNone/>
            </a:pPr>
            <a:r>
              <a:rPr lang="en-US" sz="1200" dirty="0">
                <a:solidFill>
                  <a:srgbClr val="3D3D3D"/>
                </a:solidFill>
                <a:latin typeface="Calibri" pitchFamily="34" charset="0"/>
                <a:ea typeface="Calibri" pitchFamily="34" charset="-122"/>
                <a:cs typeface="Calibri" pitchFamily="34" charset="-120"/>
              </a:rPr>
              <a:t>Find "good" in a factual comment and call it positive</a:t>
            </a:r>
            <a:endParaRPr lang="en-US" sz="1200" dirty="0"/>
          </a:p>
          <a:p>
            <a:pPr marL="0" indent="0">
              <a:lnSpc>
                <a:spcPts val="1500"/>
              </a:lnSpc>
              <a:buNone/>
            </a:pPr>
            <a:r>
              <a:rPr lang="en-US" sz="500" dirty="0">
                <a:solidFill>
                  <a:srgbClr val="3D3D3D"/>
                </a:solidFill>
                <a:latin typeface="Calibri" pitchFamily="34" charset="0"/>
                <a:ea typeface="Calibri" pitchFamily="34" charset="-122"/>
                <a:cs typeface="Calibri" pitchFamily="34" charset="-120"/>
              </a:rPr>
              <a:t> </a:t>
            </a:r>
            <a:endParaRPr lang="en-US" sz="1200" dirty="0"/>
          </a:p>
          <a:p>
            <a:pPr marL="0" indent="0">
              <a:lnSpc>
                <a:spcPts val="1500"/>
              </a:lnSpc>
              <a:buNone/>
            </a:pPr>
            <a:r>
              <a:rPr lang="en-US" sz="1200" b="1" dirty="0">
                <a:solidFill>
                  <a:srgbClr val="1A1A1A"/>
                </a:solidFill>
                <a:latin typeface="Calibri" pitchFamily="34" charset="0"/>
                <a:ea typeface="Calibri" pitchFamily="34" charset="-122"/>
                <a:cs typeface="Calibri" pitchFamily="34" charset="-120"/>
              </a:rPr>
              <a:t>Transformers</a:t>
            </a:r>
            <a:endParaRPr lang="en-US" sz="1200" dirty="0"/>
          </a:p>
          <a:p>
            <a:pPr marL="0" indent="0">
              <a:lnSpc>
                <a:spcPts val="1500"/>
              </a:lnSpc>
              <a:buNone/>
            </a:pPr>
            <a:r>
              <a:rPr lang="en-US" sz="1200" dirty="0">
                <a:solidFill>
                  <a:srgbClr val="3D3D3D"/>
                </a:solidFill>
                <a:latin typeface="Calibri" pitchFamily="34" charset="0"/>
                <a:ea typeface="Calibri" pitchFamily="34" charset="-122"/>
                <a:cs typeface="Calibri" pitchFamily="34" charset="-120"/>
              </a:rPr>
              <a:t>Read unpleasant subject matter as an unpleasant attitude</a:t>
            </a:r>
            <a:endParaRPr lang="en-US" sz="1200" dirty="0"/>
          </a:p>
        </p:txBody>
      </p:sp>
      <p:sp>
        <p:nvSpPr>
          <p:cNvPr id="10" name="Text 7"/>
          <p:cNvSpPr/>
          <p:nvPr/>
        </p:nvSpPr>
        <p:spPr>
          <a:xfrm>
            <a:off x="8092440" y="3520440"/>
            <a:ext cx="3246120" cy="640080"/>
          </a:xfrm>
          <a:prstGeom prst="rect">
            <a:avLst/>
          </a:prstGeom>
          <a:noFill/>
          <a:ln/>
        </p:spPr>
        <p:txBody>
          <a:bodyPr wrap="square" lIns="0" tIns="0" rIns="0" bIns="0" rtlCol="0" anchor="ctr"/>
          <a:lstStyle/>
          <a:p>
            <a:pPr marL="0" indent="0">
              <a:lnSpc>
                <a:spcPts val="1500"/>
              </a:lnSpc>
              <a:buNone/>
            </a:pPr>
            <a:r>
              <a:rPr lang="en-US" sz="1200" b="1" dirty="0">
                <a:solidFill>
                  <a:srgbClr val="B23B3B"/>
                </a:solidFill>
                <a:latin typeface="Calibri" pitchFamily="34" charset="0"/>
                <a:ea typeface="Calibri" pitchFamily="34" charset="-122"/>
                <a:cs typeface="Calibri" pitchFamily="34" charset="-120"/>
              </a:rPr>
              <a:t>Reversals — negative comments called positive:</a:t>
            </a:r>
            <a:endParaRPr lang="en-US" sz="1200" dirty="0"/>
          </a:p>
          <a:p>
            <a:pPr marL="0" indent="0">
              <a:lnSpc>
                <a:spcPts val="1500"/>
              </a:lnSpc>
              <a:buNone/>
            </a:pPr>
            <a:r>
              <a:rPr lang="en-US" sz="1200" b="1" dirty="0">
                <a:solidFill>
                  <a:srgbClr val="B23B3B"/>
                </a:solidFill>
                <a:latin typeface="Calibri" pitchFamily="34" charset="0"/>
                <a:ea typeface="Calibri" pitchFamily="34" charset="-122"/>
                <a:cs typeface="Calibri" pitchFamily="34" charset="-120"/>
              </a:rPr>
              <a:t>TextBlob 13  ·  VADER 15  ·  RoBERTa 1</a:t>
            </a:r>
            <a:endParaRPr lang="en-US" sz="1200" dirty="0"/>
          </a:p>
        </p:txBody>
      </p:sp>
      <p:sp>
        <p:nvSpPr>
          <p:cNvPr id="11" name="Shape 8"/>
          <p:cNvSpPr/>
          <p:nvPr/>
        </p:nvSpPr>
        <p:spPr>
          <a:xfrm>
            <a:off x="8092440" y="4279392"/>
            <a:ext cx="3246120" cy="0"/>
          </a:xfrm>
          <a:prstGeom prst="line">
            <a:avLst/>
          </a:prstGeom>
          <a:noFill/>
          <a:ln w="12700">
            <a:solidFill>
              <a:srgbClr val="D8D8D8"/>
            </a:solidFill>
            <a:prstDash val="solid"/>
          </a:ln>
        </p:spPr>
        <p:txBody>
          <a:bodyPr/>
          <a:lstStyle/>
          <a:p>
            <a:endParaRPr lang="en-US"/>
          </a:p>
        </p:txBody>
      </p:sp>
      <p:sp>
        <p:nvSpPr>
          <p:cNvPr id="12" name="Text 9"/>
          <p:cNvSpPr/>
          <p:nvPr/>
        </p:nvSpPr>
        <p:spPr>
          <a:xfrm>
            <a:off x="8092440" y="4407408"/>
            <a:ext cx="3246120" cy="292608"/>
          </a:xfrm>
          <a:prstGeom prst="rect">
            <a:avLst/>
          </a:prstGeom>
          <a:noFill/>
          <a:ln/>
        </p:spPr>
        <p:txBody>
          <a:bodyPr wrap="square" lIns="0" tIns="0" rIns="0" bIns="0" rtlCol="0" anchor="ctr"/>
          <a:lstStyle/>
          <a:p>
            <a:pPr marL="0" indent="0">
              <a:buNone/>
            </a:pPr>
            <a:r>
              <a:rPr lang="en-US" sz="1600" b="1" dirty="0">
                <a:solidFill>
                  <a:srgbClr val="1A1A1A"/>
                </a:solidFill>
                <a:latin typeface="Cambria" pitchFamily="34" charset="0"/>
                <a:ea typeface="Cambria" pitchFamily="34" charset="-122"/>
                <a:cs typeface="Cambria" pitchFamily="34" charset="-120"/>
              </a:rPr>
              <a:t>What it can't tell you</a:t>
            </a:r>
            <a:endParaRPr lang="en-US" sz="1600" dirty="0"/>
          </a:p>
        </p:txBody>
      </p:sp>
      <p:sp>
        <p:nvSpPr>
          <p:cNvPr id="13" name="Text 10"/>
          <p:cNvSpPr/>
          <p:nvPr/>
        </p:nvSpPr>
        <p:spPr>
          <a:xfrm>
            <a:off x="8092440" y="4773168"/>
            <a:ext cx="3246120" cy="914400"/>
          </a:xfrm>
          <a:prstGeom prst="rect">
            <a:avLst/>
          </a:prstGeom>
          <a:noFill/>
          <a:ln/>
        </p:spPr>
        <p:txBody>
          <a:bodyPr wrap="square" lIns="0" tIns="0" rIns="0" bIns="0" rtlCol="0" anchor="ctr"/>
          <a:lstStyle/>
          <a:p>
            <a:pPr marL="0" indent="0">
              <a:lnSpc>
                <a:spcPts val="1500"/>
              </a:lnSpc>
              <a:buNone/>
            </a:pPr>
            <a:r>
              <a:rPr lang="en-US" sz="1200" dirty="0">
                <a:solidFill>
                  <a:srgbClr val="3D3D3D"/>
                </a:solidFill>
                <a:latin typeface="Calibri" pitchFamily="34" charset="0"/>
                <a:ea typeface="Calibri" pitchFamily="34" charset="-122"/>
                <a:cs typeface="Calibri" pitchFamily="34" charset="-120"/>
              </a:rPr>
              <a:t>~30% of individual comments are labelled wrong — reliable in aggregate, not for any single comment</a:t>
            </a:r>
            <a:endParaRPr lang="en-US" sz="1200" dirty="0"/>
          </a:p>
          <a:p>
            <a:pPr marL="0" indent="0">
              <a:lnSpc>
                <a:spcPts val="1500"/>
              </a:lnSpc>
              <a:buNone/>
            </a:pPr>
            <a:r>
              <a:rPr lang="en-US" sz="500" dirty="0">
                <a:solidFill>
                  <a:srgbClr val="3D3D3D"/>
                </a:solidFill>
                <a:latin typeface="Calibri" pitchFamily="34" charset="0"/>
                <a:ea typeface="Calibri" pitchFamily="34" charset="-122"/>
                <a:cs typeface="Calibri" pitchFamily="34" charset="-120"/>
              </a:rPr>
              <a:t> </a:t>
            </a:r>
            <a:endParaRPr lang="en-US" sz="1200" dirty="0"/>
          </a:p>
          <a:p>
            <a:pPr marL="0" indent="0">
              <a:lnSpc>
                <a:spcPts val="1500"/>
              </a:lnSpc>
              <a:buNone/>
            </a:pPr>
            <a:r>
              <a:rPr lang="en-US" sz="1200" dirty="0">
                <a:solidFill>
                  <a:srgbClr val="3D3D3D"/>
                </a:solidFill>
                <a:latin typeface="Calibri" pitchFamily="34" charset="0"/>
                <a:ea typeface="Calibri" pitchFamily="34" charset="-122"/>
                <a:cs typeface="Calibri" pitchFamily="34" charset="-120"/>
              </a:rPr>
              <a:t>It over-reads negative, so absolute levels are inflated — though comparisons hold</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384048"/>
            <a:ext cx="11091672" cy="566928"/>
          </a:xfrm>
          <a:prstGeom prst="rect">
            <a:avLst/>
          </a:prstGeom>
          <a:noFill/>
          <a:ln/>
        </p:spPr>
        <p:txBody>
          <a:bodyPr wrap="square" lIns="0" tIns="0" rIns="0" bIns="0" rtlCol="0" anchor="ctr"/>
          <a:lstStyle/>
          <a:p>
            <a:pPr marL="0" indent="0">
              <a:buNone/>
            </a:pPr>
            <a:r>
              <a:rPr lang="en-US" sz="3000" b="1" dirty="0">
                <a:solidFill>
                  <a:srgbClr val="1A1A1A"/>
                </a:solidFill>
                <a:latin typeface="Cambria" pitchFamily="34" charset="0"/>
                <a:ea typeface="Cambria" pitchFamily="34" charset="-122"/>
                <a:cs typeface="Cambria" pitchFamily="34" charset="-120"/>
              </a:rPr>
              <a:t>What RoBERTa catches that others miss</a:t>
            </a:r>
            <a:endParaRPr lang="en-US" sz="3000" dirty="0"/>
          </a:p>
        </p:txBody>
      </p:sp>
      <p:sp>
        <p:nvSpPr>
          <p:cNvPr id="3" name="Text 1"/>
          <p:cNvSpPr/>
          <p:nvPr/>
        </p:nvSpPr>
        <p:spPr>
          <a:xfrm>
            <a:off x="548640" y="950976"/>
            <a:ext cx="11091672" cy="310896"/>
          </a:xfrm>
          <a:prstGeom prst="rect">
            <a:avLst/>
          </a:prstGeom>
          <a:noFill/>
          <a:ln/>
        </p:spPr>
        <p:txBody>
          <a:bodyPr wrap="square" lIns="0" tIns="0" rIns="0" bIns="0" rtlCol="0" anchor="ctr"/>
          <a:lstStyle/>
          <a:p>
            <a:pPr marL="0" indent="0">
              <a:buNone/>
            </a:pPr>
            <a:r>
              <a:rPr lang="en-US" sz="1400" i="1" dirty="0">
                <a:solidFill>
                  <a:srgbClr val="767676"/>
                </a:solidFill>
                <a:latin typeface="Calibri" pitchFamily="34" charset="0"/>
                <a:ea typeface="Calibri" pitchFamily="34" charset="-122"/>
                <a:cs typeface="Calibri" pitchFamily="34" charset="-120"/>
              </a:rPr>
              <a:t>25 deliberately hard cases where the four methods produced all three labels</a:t>
            </a:r>
            <a:endParaRPr lang="en-US" sz="1400" dirty="0"/>
          </a:p>
        </p:txBody>
      </p:sp>
      <p:sp>
        <p:nvSpPr>
          <p:cNvPr id="4" name="Text 2"/>
          <p:cNvSpPr/>
          <p:nvPr/>
        </p:nvSpPr>
        <p:spPr>
          <a:xfrm>
            <a:off x="548640" y="1417320"/>
            <a:ext cx="11091672" cy="365760"/>
          </a:xfrm>
          <a:prstGeom prst="rect">
            <a:avLst/>
          </a:prstGeom>
          <a:noFill/>
          <a:ln/>
        </p:spPr>
        <p:txBody>
          <a:bodyPr wrap="square" lIns="0" tIns="0" rIns="0" bIns="0" rtlCol="0" anchor="ctr"/>
          <a:lstStyle/>
          <a:p>
            <a:pPr marL="0" indent="0">
              <a:buNone/>
            </a:pPr>
            <a:r>
              <a:rPr lang="en-US" sz="1500" dirty="0">
                <a:solidFill>
                  <a:srgbClr val="3D3D3D"/>
                </a:solidFill>
                <a:latin typeface="Calibri" pitchFamily="34" charset="0"/>
                <a:ea typeface="Calibri" pitchFamily="34" charset="-122"/>
                <a:cs typeface="Calibri" pitchFamily="34" charset="-120"/>
              </a:rPr>
              <a:t>On thirteen of these, only one method matched the human label — and that method was RoBERTa eight times.</a:t>
            </a:r>
            <a:endParaRPr lang="en-US" sz="1500" dirty="0"/>
          </a:p>
        </p:txBody>
      </p:sp>
      <p:sp>
        <p:nvSpPr>
          <p:cNvPr id="5" name="Shape 3"/>
          <p:cNvSpPr/>
          <p:nvPr/>
        </p:nvSpPr>
        <p:spPr>
          <a:xfrm>
            <a:off x="548640" y="1965960"/>
            <a:ext cx="11091672" cy="1115568"/>
          </a:xfrm>
          <a:prstGeom prst="roundRect">
            <a:avLst>
              <a:gd name="adj" fmla="val 3279"/>
            </a:avLst>
          </a:prstGeom>
          <a:solidFill>
            <a:srgbClr val="F4F4F4"/>
          </a:solidFill>
          <a:ln w="9525">
            <a:solidFill>
              <a:srgbClr val="D8D8D8"/>
            </a:solidFill>
            <a:prstDash val="solid"/>
          </a:ln>
        </p:spPr>
        <p:txBody>
          <a:bodyPr/>
          <a:lstStyle/>
          <a:p>
            <a:endParaRPr lang="en-US"/>
          </a:p>
        </p:txBody>
      </p:sp>
      <p:sp>
        <p:nvSpPr>
          <p:cNvPr id="6" name="Text 4"/>
          <p:cNvSpPr/>
          <p:nvPr/>
        </p:nvSpPr>
        <p:spPr>
          <a:xfrm>
            <a:off x="868680" y="2112264"/>
            <a:ext cx="8503920" cy="384048"/>
          </a:xfrm>
          <a:prstGeom prst="rect">
            <a:avLst/>
          </a:prstGeom>
          <a:noFill/>
          <a:ln/>
        </p:spPr>
        <p:txBody>
          <a:bodyPr wrap="square" lIns="0" tIns="0" rIns="0" bIns="0" rtlCol="0" anchor="ctr"/>
          <a:lstStyle/>
          <a:p>
            <a:pPr marL="0" indent="0">
              <a:buNone/>
            </a:pPr>
            <a:r>
              <a:rPr lang="en-US" sz="1400" i="1" dirty="0">
                <a:solidFill>
                  <a:srgbClr val="1A1A1A"/>
                </a:solidFill>
                <a:latin typeface="Calibri" pitchFamily="34" charset="0"/>
                <a:ea typeface="Calibri" pitchFamily="34" charset="-122"/>
                <a:cs typeface="Calibri" pitchFamily="34" charset="-120"/>
              </a:rPr>
              <a:t>"AB 253: California Residential Private Permitting Review Act... would remove the requirement for a city to contract with..."</a:t>
            </a:r>
            <a:endParaRPr lang="en-US" sz="1400" dirty="0"/>
          </a:p>
        </p:txBody>
      </p:sp>
      <p:sp>
        <p:nvSpPr>
          <p:cNvPr id="7" name="Text 5"/>
          <p:cNvSpPr/>
          <p:nvPr/>
        </p:nvSpPr>
        <p:spPr>
          <a:xfrm>
            <a:off x="868680" y="2532888"/>
            <a:ext cx="8503920" cy="411480"/>
          </a:xfrm>
          <a:prstGeom prst="rect">
            <a:avLst/>
          </a:prstGeom>
          <a:noFill/>
          <a:ln/>
        </p:spPr>
        <p:txBody>
          <a:bodyPr wrap="square" lIns="0" tIns="0" rIns="0" bIns="0" rtlCol="0" anchor="ctr"/>
          <a:lstStyle/>
          <a:p>
            <a:pPr marL="0" indent="0">
              <a:lnSpc>
                <a:spcPts val="1500"/>
              </a:lnSpc>
              <a:buNone/>
            </a:pPr>
            <a:r>
              <a:rPr lang="en-US" sz="1200" dirty="0">
                <a:solidFill>
                  <a:srgbClr val="767676"/>
                </a:solidFill>
                <a:latin typeface="Calibri" pitchFamily="34" charset="0"/>
                <a:ea typeface="Calibri" pitchFamily="34" charset="-122"/>
                <a:cs typeface="Calibri" pitchFamily="34" charset="-120"/>
              </a:rPr>
              <a:t>A verbatim summary of a housing bill. Neutral to any reader — every other method scored it as carrying sentiment.</a:t>
            </a:r>
            <a:endParaRPr lang="en-US" sz="1200" dirty="0"/>
          </a:p>
        </p:txBody>
      </p:sp>
      <p:sp>
        <p:nvSpPr>
          <p:cNvPr id="8" name="Text 6"/>
          <p:cNvSpPr/>
          <p:nvPr/>
        </p:nvSpPr>
        <p:spPr>
          <a:xfrm>
            <a:off x="9601200" y="2221992"/>
            <a:ext cx="1783080" cy="219456"/>
          </a:xfrm>
          <a:prstGeom prst="rect">
            <a:avLst/>
          </a:prstGeom>
          <a:noFill/>
          <a:ln/>
        </p:spPr>
        <p:txBody>
          <a:bodyPr wrap="square" lIns="0" tIns="0" rIns="0" bIns="0" rtlCol="0" anchor="ctr"/>
          <a:lstStyle/>
          <a:p>
            <a:pPr marL="0" indent="0" algn="r">
              <a:buNone/>
            </a:pPr>
            <a:r>
              <a:rPr lang="en-US" sz="1000" dirty="0">
                <a:solidFill>
                  <a:srgbClr val="767676"/>
                </a:solidFill>
                <a:latin typeface="Calibri" pitchFamily="34" charset="0"/>
                <a:ea typeface="Calibri" pitchFamily="34" charset="-122"/>
                <a:cs typeface="Calibri" pitchFamily="34" charset="-120"/>
              </a:rPr>
              <a:t>human label</a:t>
            </a:r>
            <a:endParaRPr lang="en-US" sz="1000" dirty="0"/>
          </a:p>
        </p:txBody>
      </p:sp>
      <p:sp>
        <p:nvSpPr>
          <p:cNvPr id="9" name="Text 7"/>
          <p:cNvSpPr/>
          <p:nvPr/>
        </p:nvSpPr>
        <p:spPr>
          <a:xfrm>
            <a:off x="9601200" y="2459736"/>
            <a:ext cx="1783080" cy="310896"/>
          </a:xfrm>
          <a:prstGeom prst="rect">
            <a:avLst/>
          </a:prstGeom>
          <a:noFill/>
          <a:ln/>
        </p:spPr>
        <p:txBody>
          <a:bodyPr wrap="square" lIns="0" tIns="0" rIns="0" bIns="0" rtlCol="0" anchor="ctr"/>
          <a:lstStyle/>
          <a:p>
            <a:pPr marL="0" indent="0" algn="r">
              <a:buNone/>
            </a:pPr>
            <a:r>
              <a:rPr lang="en-US" sz="1500" b="1" dirty="0">
                <a:solidFill>
                  <a:srgbClr val="9AA5AD"/>
                </a:solidFill>
                <a:latin typeface="Calibri" pitchFamily="34" charset="0"/>
                <a:ea typeface="Calibri" pitchFamily="34" charset="-122"/>
                <a:cs typeface="Calibri" pitchFamily="34" charset="-120"/>
              </a:rPr>
              <a:t>neutral</a:t>
            </a:r>
            <a:endParaRPr lang="en-US" sz="1500" dirty="0"/>
          </a:p>
        </p:txBody>
      </p:sp>
      <p:sp>
        <p:nvSpPr>
          <p:cNvPr id="10" name="Shape 8"/>
          <p:cNvSpPr/>
          <p:nvPr/>
        </p:nvSpPr>
        <p:spPr>
          <a:xfrm>
            <a:off x="548640" y="3264408"/>
            <a:ext cx="11091672" cy="1115568"/>
          </a:xfrm>
          <a:prstGeom prst="roundRect">
            <a:avLst>
              <a:gd name="adj" fmla="val 3279"/>
            </a:avLst>
          </a:prstGeom>
          <a:solidFill>
            <a:srgbClr val="F4F4F4"/>
          </a:solidFill>
          <a:ln w="9525">
            <a:solidFill>
              <a:srgbClr val="D8D8D8"/>
            </a:solidFill>
            <a:prstDash val="solid"/>
          </a:ln>
        </p:spPr>
        <p:txBody>
          <a:bodyPr/>
          <a:lstStyle/>
          <a:p>
            <a:endParaRPr lang="en-US"/>
          </a:p>
        </p:txBody>
      </p:sp>
      <p:sp>
        <p:nvSpPr>
          <p:cNvPr id="11" name="Text 9"/>
          <p:cNvSpPr/>
          <p:nvPr/>
        </p:nvSpPr>
        <p:spPr>
          <a:xfrm>
            <a:off x="868680" y="3410712"/>
            <a:ext cx="8503920" cy="384048"/>
          </a:xfrm>
          <a:prstGeom prst="rect">
            <a:avLst/>
          </a:prstGeom>
          <a:noFill/>
          <a:ln/>
        </p:spPr>
        <p:txBody>
          <a:bodyPr wrap="square" lIns="0" tIns="0" rIns="0" bIns="0" rtlCol="0" anchor="ctr"/>
          <a:lstStyle/>
          <a:p>
            <a:pPr marL="0" indent="0">
              <a:buNone/>
            </a:pPr>
            <a:r>
              <a:rPr lang="en-US" sz="1400" i="1" dirty="0">
                <a:solidFill>
                  <a:srgbClr val="1A1A1A"/>
                </a:solidFill>
                <a:latin typeface="Calibri" pitchFamily="34" charset="0"/>
                <a:ea typeface="Calibri" pitchFamily="34" charset="-122"/>
                <a:cs typeface="Calibri" pitchFamily="34" charset="-120"/>
              </a:rPr>
              <a:t>"This whole country is the Wild West now."</a:t>
            </a:r>
            <a:endParaRPr lang="en-US" sz="1400" dirty="0"/>
          </a:p>
        </p:txBody>
      </p:sp>
      <p:sp>
        <p:nvSpPr>
          <p:cNvPr id="12" name="Text 10"/>
          <p:cNvSpPr/>
          <p:nvPr/>
        </p:nvSpPr>
        <p:spPr>
          <a:xfrm>
            <a:off x="868680" y="3831336"/>
            <a:ext cx="8503920" cy="411480"/>
          </a:xfrm>
          <a:prstGeom prst="rect">
            <a:avLst/>
          </a:prstGeom>
          <a:noFill/>
          <a:ln/>
        </p:spPr>
        <p:txBody>
          <a:bodyPr wrap="square" lIns="0" tIns="0" rIns="0" bIns="0" rtlCol="0" anchor="ctr"/>
          <a:lstStyle/>
          <a:p>
            <a:pPr marL="0" indent="0">
              <a:lnSpc>
                <a:spcPts val="1500"/>
              </a:lnSpc>
              <a:buNone/>
            </a:pPr>
            <a:r>
              <a:rPr lang="en-US" sz="1200" dirty="0">
                <a:solidFill>
                  <a:srgbClr val="767676"/>
                </a:solidFill>
                <a:latin typeface="Calibri" pitchFamily="34" charset="0"/>
                <a:ea typeface="Calibri" pitchFamily="34" charset="-122"/>
                <a:cs typeface="Calibri" pitchFamily="34" charset="-120"/>
              </a:rPr>
              <a:t>Negative, with no negative word in it. "Wild West" is an idiom a dictionary cannot resolve.</a:t>
            </a:r>
            <a:endParaRPr lang="en-US" sz="1200" dirty="0"/>
          </a:p>
        </p:txBody>
      </p:sp>
      <p:sp>
        <p:nvSpPr>
          <p:cNvPr id="13" name="Text 11"/>
          <p:cNvSpPr/>
          <p:nvPr/>
        </p:nvSpPr>
        <p:spPr>
          <a:xfrm>
            <a:off x="9601200" y="3520440"/>
            <a:ext cx="1783080" cy="219456"/>
          </a:xfrm>
          <a:prstGeom prst="rect">
            <a:avLst/>
          </a:prstGeom>
          <a:noFill/>
          <a:ln/>
        </p:spPr>
        <p:txBody>
          <a:bodyPr wrap="square" lIns="0" tIns="0" rIns="0" bIns="0" rtlCol="0" anchor="ctr"/>
          <a:lstStyle/>
          <a:p>
            <a:pPr marL="0" indent="0" algn="r">
              <a:buNone/>
            </a:pPr>
            <a:r>
              <a:rPr lang="en-US" sz="1000" dirty="0">
                <a:solidFill>
                  <a:srgbClr val="767676"/>
                </a:solidFill>
                <a:latin typeface="Calibri" pitchFamily="34" charset="0"/>
                <a:ea typeface="Calibri" pitchFamily="34" charset="-122"/>
                <a:cs typeface="Calibri" pitchFamily="34" charset="-120"/>
              </a:rPr>
              <a:t>human label</a:t>
            </a:r>
            <a:endParaRPr lang="en-US" sz="1000" dirty="0"/>
          </a:p>
        </p:txBody>
      </p:sp>
      <p:sp>
        <p:nvSpPr>
          <p:cNvPr id="14" name="Text 12"/>
          <p:cNvSpPr/>
          <p:nvPr/>
        </p:nvSpPr>
        <p:spPr>
          <a:xfrm>
            <a:off x="9601200" y="3758184"/>
            <a:ext cx="1783080" cy="310896"/>
          </a:xfrm>
          <a:prstGeom prst="rect">
            <a:avLst/>
          </a:prstGeom>
          <a:noFill/>
          <a:ln/>
        </p:spPr>
        <p:txBody>
          <a:bodyPr wrap="square" lIns="0" tIns="0" rIns="0" bIns="0" rtlCol="0" anchor="ctr"/>
          <a:lstStyle/>
          <a:p>
            <a:pPr marL="0" indent="0" algn="r">
              <a:buNone/>
            </a:pPr>
            <a:r>
              <a:rPr lang="en-US" sz="1500" b="1" dirty="0">
                <a:solidFill>
                  <a:srgbClr val="B23B3B"/>
                </a:solidFill>
                <a:latin typeface="Calibri" pitchFamily="34" charset="0"/>
                <a:ea typeface="Calibri" pitchFamily="34" charset="-122"/>
                <a:cs typeface="Calibri" pitchFamily="34" charset="-120"/>
              </a:rPr>
              <a:t>negative</a:t>
            </a:r>
            <a:endParaRPr lang="en-US" sz="1500" dirty="0"/>
          </a:p>
        </p:txBody>
      </p:sp>
      <p:sp>
        <p:nvSpPr>
          <p:cNvPr id="15" name="Shape 13"/>
          <p:cNvSpPr/>
          <p:nvPr/>
        </p:nvSpPr>
        <p:spPr>
          <a:xfrm>
            <a:off x="548640" y="4562856"/>
            <a:ext cx="11091672" cy="1115568"/>
          </a:xfrm>
          <a:prstGeom prst="roundRect">
            <a:avLst>
              <a:gd name="adj" fmla="val 3279"/>
            </a:avLst>
          </a:prstGeom>
          <a:solidFill>
            <a:srgbClr val="F4F4F4"/>
          </a:solidFill>
          <a:ln w="9525">
            <a:solidFill>
              <a:srgbClr val="D8D8D8"/>
            </a:solidFill>
            <a:prstDash val="solid"/>
          </a:ln>
        </p:spPr>
        <p:txBody>
          <a:bodyPr/>
          <a:lstStyle/>
          <a:p>
            <a:endParaRPr lang="en-US"/>
          </a:p>
        </p:txBody>
      </p:sp>
      <p:sp>
        <p:nvSpPr>
          <p:cNvPr id="16" name="Text 14"/>
          <p:cNvSpPr/>
          <p:nvPr/>
        </p:nvSpPr>
        <p:spPr>
          <a:xfrm>
            <a:off x="868680" y="4709160"/>
            <a:ext cx="8503920" cy="384048"/>
          </a:xfrm>
          <a:prstGeom prst="rect">
            <a:avLst/>
          </a:prstGeom>
          <a:noFill/>
          <a:ln/>
        </p:spPr>
        <p:txBody>
          <a:bodyPr wrap="square" lIns="0" tIns="0" rIns="0" bIns="0" rtlCol="0" anchor="ctr"/>
          <a:lstStyle/>
          <a:p>
            <a:pPr marL="0" indent="0">
              <a:buNone/>
            </a:pPr>
            <a:r>
              <a:rPr lang="en-US" sz="1400" i="1" dirty="0">
                <a:solidFill>
                  <a:srgbClr val="1A1A1A"/>
                </a:solidFill>
                <a:latin typeface="Calibri" pitchFamily="34" charset="0"/>
                <a:ea typeface="Calibri" pitchFamily="34" charset="-122"/>
                <a:cs typeface="Calibri" pitchFamily="34" charset="-120"/>
              </a:rPr>
              <a:t>"You are an unfit mother."</a:t>
            </a:r>
            <a:endParaRPr lang="en-US" sz="1400" dirty="0"/>
          </a:p>
        </p:txBody>
      </p:sp>
      <p:sp>
        <p:nvSpPr>
          <p:cNvPr id="17" name="Text 15"/>
          <p:cNvSpPr/>
          <p:nvPr/>
        </p:nvSpPr>
        <p:spPr>
          <a:xfrm>
            <a:off x="868680" y="5129784"/>
            <a:ext cx="8503920" cy="411480"/>
          </a:xfrm>
          <a:prstGeom prst="rect">
            <a:avLst/>
          </a:prstGeom>
          <a:noFill/>
          <a:ln/>
        </p:spPr>
        <p:txBody>
          <a:bodyPr wrap="square" lIns="0" tIns="0" rIns="0" bIns="0" rtlCol="0" anchor="ctr"/>
          <a:lstStyle/>
          <a:p>
            <a:pPr marL="0" indent="0">
              <a:lnSpc>
                <a:spcPts val="1500"/>
              </a:lnSpc>
              <a:buNone/>
            </a:pPr>
            <a:r>
              <a:rPr lang="en-US" sz="1200" dirty="0">
                <a:solidFill>
                  <a:srgbClr val="767676"/>
                </a:solidFill>
                <a:latin typeface="Calibri" pitchFamily="34" charset="0"/>
                <a:ea typeface="Calibri" pitchFamily="34" charset="-122"/>
                <a:cs typeface="Calibri" pitchFamily="34" charset="-120"/>
              </a:rPr>
              <a:t>Hostile, but contains nothing a lexicon would flag. Requires reading the phrase as a whole.</a:t>
            </a:r>
            <a:endParaRPr lang="en-US" sz="1200" dirty="0"/>
          </a:p>
        </p:txBody>
      </p:sp>
      <p:sp>
        <p:nvSpPr>
          <p:cNvPr id="18" name="Text 16"/>
          <p:cNvSpPr/>
          <p:nvPr/>
        </p:nvSpPr>
        <p:spPr>
          <a:xfrm>
            <a:off x="9601200" y="4818888"/>
            <a:ext cx="1783080" cy="219456"/>
          </a:xfrm>
          <a:prstGeom prst="rect">
            <a:avLst/>
          </a:prstGeom>
          <a:noFill/>
          <a:ln/>
        </p:spPr>
        <p:txBody>
          <a:bodyPr wrap="square" lIns="0" tIns="0" rIns="0" bIns="0" rtlCol="0" anchor="ctr"/>
          <a:lstStyle/>
          <a:p>
            <a:pPr marL="0" indent="0" algn="r">
              <a:buNone/>
            </a:pPr>
            <a:r>
              <a:rPr lang="en-US" sz="1000" dirty="0">
                <a:solidFill>
                  <a:srgbClr val="767676"/>
                </a:solidFill>
                <a:latin typeface="Calibri" pitchFamily="34" charset="0"/>
                <a:ea typeface="Calibri" pitchFamily="34" charset="-122"/>
                <a:cs typeface="Calibri" pitchFamily="34" charset="-120"/>
              </a:rPr>
              <a:t>human label</a:t>
            </a:r>
            <a:endParaRPr lang="en-US" sz="1000" dirty="0"/>
          </a:p>
        </p:txBody>
      </p:sp>
      <p:sp>
        <p:nvSpPr>
          <p:cNvPr id="19" name="Text 17"/>
          <p:cNvSpPr/>
          <p:nvPr/>
        </p:nvSpPr>
        <p:spPr>
          <a:xfrm>
            <a:off x="9601200" y="5056632"/>
            <a:ext cx="1783080" cy="310896"/>
          </a:xfrm>
          <a:prstGeom prst="rect">
            <a:avLst/>
          </a:prstGeom>
          <a:noFill/>
          <a:ln/>
        </p:spPr>
        <p:txBody>
          <a:bodyPr wrap="square" lIns="0" tIns="0" rIns="0" bIns="0" rtlCol="0" anchor="ctr"/>
          <a:lstStyle/>
          <a:p>
            <a:pPr marL="0" indent="0" algn="r">
              <a:buNone/>
            </a:pPr>
            <a:r>
              <a:rPr lang="en-US" sz="1500" b="1" dirty="0">
                <a:solidFill>
                  <a:srgbClr val="B23B3B"/>
                </a:solidFill>
                <a:latin typeface="Calibri" pitchFamily="34" charset="0"/>
                <a:ea typeface="Calibri" pitchFamily="34" charset="-122"/>
                <a:cs typeface="Calibri" pitchFamily="34" charset="-120"/>
              </a:rPr>
              <a:t>negative</a:t>
            </a:r>
            <a:endParaRPr lang="en-US" sz="1500" dirty="0"/>
          </a:p>
        </p:txBody>
      </p:sp>
      <p:sp>
        <p:nvSpPr>
          <p:cNvPr id="20" name="Text 18"/>
          <p:cNvSpPr/>
          <p:nvPr/>
        </p:nvSpPr>
        <p:spPr>
          <a:xfrm>
            <a:off x="548640" y="5943600"/>
            <a:ext cx="11091672" cy="365760"/>
          </a:xfrm>
          <a:prstGeom prst="rect">
            <a:avLst/>
          </a:prstGeom>
          <a:noFill/>
          <a:ln/>
        </p:spPr>
        <p:txBody>
          <a:bodyPr wrap="square" lIns="0" tIns="0" rIns="0" bIns="0" rtlCol="0" anchor="ctr"/>
          <a:lstStyle/>
          <a:p>
            <a:pPr marL="0" indent="0">
              <a:buNone/>
            </a:pPr>
            <a:r>
              <a:rPr lang="en-US" sz="1200" i="1" dirty="0">
                <a:solidFill>
                  <a:srgbClr val="767676"/>
                </a:solidFill>
                <a:latin typeface="Calibri" pitchFamily="34" charset="0"/>
                <a:ea typeface="Calibri" pitchFamily="34" charset="-122"/>
                <a:cs typeface="Calibri" pitchFamily="34" charset="-120"/>
              </a:rPr>
              <a:t>These 25 were selected for difficulty and excluded from every accuracy figure — they illustrate how each method fails, they do not measure performance.</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532A4BE-5949-4C5D-BA4B-EA6A8D6DCA9D}"/>
              </a:ext>
            </a:extLst>
          </p:cNvPr>
          <p:cNvPicPr>
            <a:picLocks noChangeAspect="1"/>
          </p:cNvPicPr>
          <p:nvPr/>
        </p:nvPicPr>
        <p:blipFill>
          <a:blip r:embed="rId3"/>
          <a:stretch>
            <a:fillRect/>
          </a:stretch>
        </p:blipFill>
        <p:spPr>
          <a:xfrm>
            <a:off x="0" y="1213338"/>
            <a:ext cx="12192000" cy="4765431"/>
          </a:xfrm>
          <a:prstGeom prst="rect">
            <a:avLst/>
          </a:prstGeom>
        </p:spPr>
      </p:pic>
      <p:sp>
        <p:nvSpPr>
          <p:cNvPr id="5" name="Text 0">
            <a:extLst>
              <a:ext uri="{FF2B5EF4-FFF2-40B4-BE49-F238E27FC236}">
                <a16:creationId xmlns:a16="http://schemas.microsoft.com/office/drawing/2014/main" id="{886C3519-C3C6-D8D6-2D7D-B3467CEC7A1F}"/>
              </a:ext>
            </a:extLst>
          </p:cNvPr>
          <p:cNvSpPr/>
          <p:nvPr/>
        </p:nvSpPr>
        <p:spPr>
          <a:xfrm>
            <a:off x="355209" y="216994"/>
            <a:ext cx="11091672" cy="566928"/>
          </a:xfrm>
          <a:prstGeom prst="rect">
            <a:avLst/>
          </a:prstGeom>
          <a:noFill/>
          <a:ln/>
        </p:spPr>
        <p:txBody>
          <a:bodyPr wrap="square" lIns="0" tIns="0" rIns="0" bIns="0" rtlCol="0" anchor="ctr"/>
          <a:lstStyle/>
          <a:p>
            <a:pPr marL="0" indent="0">
              <a:buNone/>
            </a:pPr>
            <a:r>
              <a:rPr lang="en-US" sz="2800" b="1" dirty="0">
                <a:solidFill>
                  <a:srgbClr val="1A1A1A"/>
                </a:solidFill>
                <a:latin typeface="Cambria" pitchFamily="34" charset="0"/>
                <a:ea typeface="Cambria" pitchFamily="34" charset="-122"/>
                <a:cs typeface="Cambria" pitchFamily="34" charset="-120"/>
              </a:rPr>
              <a:t>Sentiment Composition by Topic &amp; Net Sentiment</a:t>
            </a:r>
            <a:endParaRPr lang="en-US" sz="2800" dirty="0"/>
          </a:p>
        </p:txBody>
      </p:sp>
    </p:spTree>
    <p:extLst>
      <p:ext uri="{BB962C8B-B14F-4D97-AF65-F5344CB8AC3E}">
        <p14:creationId xmlns:p14="http://schemas.microsoft.com/office/powerpoint/2010/main" val="30854079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384048"/>
            <a:ext cx="11091672" cy="566928"/>
          </a:xfrm>
          <a:prstGeom prst="rect">
            <a:avLst/>
          </a:prstGeom>
          <a:noFill/>
          <a:ln/>
        </p:spPr>
        <p:txBody>
          <a:bodyPr wrap="square" lIns="0" tIns="0" rIns="0" bIns="0" rtlCol="0" anchor="ctr"/>
          <a:lstStyle/>
          <a:p>
            <a:pPr marL="0" indent="0">
              <a:buNone/>
            </a:pPr>
            <a:r>
              <a:rPr lang="en-US" sz="3000" b="1" dirty="0">
                <a:solidFill>
                  <a:srgbClr val="1A1A1A"/>
                </a:solidFill>
                <a:latin typeface="Cambria" pitchFamily="34" charset="0"/>
                <a:ea typeface="Cambria" pitchFamily="34" charset="-122"/>
                <a:cs typeface="Cambria" pitchFamily="34" charset="-120"/>
              </a:rPr>
              <a:t>Applied across the five topics</a:t>
            </a:r>
            <a:endParaRPr lang="en-US" sz="3000" dirty="0"/>
          </a:p>
        </p:txBody>
      </p:sp>
      <p:sp>
        <p:nvSpPr>
          <p:cNvPr id="3" name="Text 1"/>
          <p:cNvSpPr/>
          <p:nvPr/>
        </p:nvSpPr>
        <p:spPr>
          <a:xfrm>
            <a:off x="548640" y="950976"/>
            <a:ext cx="11091672" cy="310896"/>
          </a:xfrm>
          <a:prstGeom prst="rect">
            <a:avLst/>
          </a:prstGeom>
          <a:noFill/>
          <a:ln/>
        </p:spPr>
        <p:txBody>
          <a:bodyPr wrap="square" lIns="0" tIns="0" rIns="0" bIns="0" rtlCol="0" anchor="ctr"/>
          <a:lstStyle/>
          <a:p>
            <a:pPr marL="0" indent="0">
              <a:buNone/>
            </a:pPr>
            <a:r>
              <a:rPr lang="en-US" sz="1400" i="1" dirty="0">
                <a:solidFill>
                  <a:srgbClr val="767676"/>
                </a:solidFill>
                <a:latin typeface="Calibri" pitchFamily="34" charset="0"/>
                <a:ea typeface="Calibri" pitchFamily="34" charset="-122"/>
                <a:cs typeface="Calibri" pitchFamily="34" charset="-120"/>
              </a:rPr>
              <a:t>Net sentiment: positive share minus negative share, in percentage points</a:t>
            </a:r>
            <a:endParaRPr lang="en-US" sz="1400" dirty="0"/>
          </a:p>
        </p:txBody>
      </p:sp>
      <p:graphicFrame>
        <p:nvGraphicFramePr>
          <p:cNvPr id="4" name="Chart 0"/>
          <p:cNvGraphicFramePr/>
          <p:nvPr>
            <p:extLst>
              <p:ext uri="{D42A27DB-BD31-4B8C-83A1-F6EECF244321}">
                <p14:modId xmlns:p14="http://schemas.microsoft.com/office/powerpoint/2010/main" val="3466337538"/>
              </p:ext>
            </p:extLst>
          </p:nvPr>
        </p:nvGraphicFramePr>
        <p:xfrm>
          <a:off x="548640" y="1536192"/>
          <a:ext cx="7315200" cy="365760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8092440" y="1536192"/>
            <a:ext cx="3547872" cy="2103120"/>
          </a:xfrm>
          <a:prstGeom prst="roundRect">
            <a:avLst>
              <a:gd name="adj" fmla="val 2174"/>
            </a:avLst>
          </a:prstGeom>
          <a:solidFill>
            <a:srgbClr val="F4F4F4"/>
          </a:solidFill>
          <a:ln w="9525">
            <a:solidFill>
              <a:srgbClr val="D8D8D8"/>
            </a:solidFill>
            <a:prstDash val="solid"/>
          </a:ln>
        </p:spPr>
        <p:txBody>
          <a:bodyPr/>
          <a:lstStyle/>
          <a:p>
            <a:endParaRPr lang="en-US"/>
          </a:p>
        </p:txBody>
      </p:sp>
      <p:sp>
        <p:nvSpPr>
          <p:cNvPr id="6" name="Text 3"/>
          <p:cNvSpPr/>
          <p:nvPr/>
        </p:nvSpPr>
        <p:spPr>
          <a:xfrm>
            <a:off x="8412480" y="1755648"/>
            <a:ext cx="2926080" cy="640080"/>
          </a:xfrm>
          <a:prstGeom prst="rect">
            <a:avLst/>
          </a:prstGeom>
          <a:noFill/>
          <a:ln/>
        </p:spPr>
        <p:txBody>
          <a:bodyPr wrap="square" lIns="0" tIns="0" rIns="0" bIns="0" rtlCol="0" anchor="ctr"/>
          <a:lstStyle/>
          <a:p>
            <a:pPr marL="0" indent="0">
              <a:buNone/>
            </a:pPr>
            <a:r>
              <a:rPr lang="en-US" sz="3800" b="1" dirty="0">
                <a:solidFill>
                  <a:srgbClr val="1A1A1A"/>
                </a:solidFill>
                <a:latin typeface="Cambria" pitchFamily="34" charset="0"/>
                <a:ea typeface="Cambria" pitchFamily="34" charset="-122"/>
                <a:cs typeface="Cambria" pitchFamily="34" charset="-120"/>
              </a:rPr>
              <a:t>27.8</a:t>
            </a:r>
            <a:endParaRPr lang="en-US" sz="3800" dirty="0"/>
          </a:p>
        </p:txBody>
      </p:sp>
      <p:sp>
        <p:nvSpPr>
          <p:cNvPr id="7" name="Text 4"/>
          <p:cNvSpPr/>
          <p:nvPr/>
        </p:nvSpPr>
        <p:spPr>
          <a:xfrm>
            <a:off x="8412480" y="2432304"/>
            <a:ext cx="2926080" cy="1005840"/>
          </a:xfrm>
          <a:prstGeom prst="rect">
            <a:avLst/>
          </a:prstGeom>
          <a:noFill/>
          <a:ln/>
        </p:spPr>
        <p:txBody>
          <a:bodyPr wrap="square" lIns="0" tIns="0" rIns="0" bIns="0" rtlCol="0" anchor="ctr"/>
          <a:lstStyle/>
          <a:p>
            <a:pPr marL="0" indent="0">
              <a:lnSpc>
                <a:spcPts val="1700"/>
              </a:lnSpc>
              <a:buNone/>
            </a:pPr>
            <a:r>
              <a:rPr lang="en-US" sz="1300" dirty="0">
                <a:solidFill>
                  <a:srgbClr val="3D3D3D"/>
                </a:solidFill>
                <a:latin typeface="Calibri" pitchFamily="34" charset="0"/>
                <a:ea typeface="Calibri" pitchFamily="34" charset="-122"/>
                <a:cs typeface="Calibri" pitchFamily="34" charset="-120"/>
              </a:rPr>
              <a:t>point gap between the most and least critical theme — criticism attaches to institutions, not to place.</a:t>
            </a:r>
            <a:endParaRPr lang="en-US" sz="1300" dirty="0"/>
          </a:p>
        </p:txBody>
      </p:sp>
      <p:sp>
        <p:nvSpPr>
          <p:cNvPr id="8" name="Text 5"/>
          <p:cNvSpPr/>
          <p:nvPr/>
        </p:nvSpPr>
        <p:spPr>
          <a:xfrm>
            <a:off x="8092440" y="3840480"/>
            <a:ext cx="3547872" cy="1371600"/>
          </a:xfrm>
          <a:prstGeom prst="rect">
            <a:avLst/>
          </a:prstGeom>
          <a:noFill/>
          <a:ln/>
        </p:spPr>
        <p:txBody>
          <a:bodyPr wrap="square" lIns="0" tIns="0" rIns="0" bIns="0" rtlCol="0" anchor="ctr"/>
          <a:lstStyle/>
          <a:p>
            <a:pPr marL="0" indent="0">
              <a:lnSpc>
                <a:spcPts val="1600"/>
              </a:lnSpc>
              <a:buNone/>
            </a:pPr>
            <a:r>
              <a:rPr lang="en-US" sz="1200" b="1" dirty="0">
                <a:solidFill>
                  <a:srgbClr val="3D3D3D"/>
                </a:solidFill>
                <a:latin typeface="Calibri" pitchFamily="34" charset="0"/>
                <a:ea typeface="Calibri" pitchFamily="34" charset="-122"/>
                <a:cs typeface="Calibri" pitchFamily="34" charset="-120"/>
              </a:rPr>
              <a:t>Stable under three checks. </a:t>
            </a:r>
            <a:r>
              <a:rPr lang="en-US" sz="1200" dirty="0">
                <a:solidFill>
                  <a:srgbClr val="3D3D3D"/>
                </a:solidFill>
                <a:latin typeface="Calibri" pitchFamily="34" charset="0"/>
                <a:ea typeface="Calibri" pitchFamily="34" charset="-122"/>
                <a:cs typeface="Calibri" pitchFamily="34" charset="-120"/>
              </a:rPr>
              <a:t>Unchanged when weakly assigned comments are excluded, when replies are separated from top-level comments, and month by month.</a:t>
            </a:r>
            <a:endParaRPr lang="en-US" sz="1200" dirty="0"/>
          </a:p>
        </p:txBody>
      </p:sp>
      <p:sp>
        <p:nvSpPr>
          <p:cNvPr id="9" name="Shape 6"/>
          <p:cNvSpPr/>
          <p:nvPr/>
        </p:nvSpPr>
        <p:spPr>
          <a:xfrm>
            <a:off x="548640" y="5440680"/>
            <a:ext cx="11091672" cy="0"/>
          </a:xfrm>
          <a:prstGeom prst="line">
            <a:avLst/>
          </a:prstGeom>
          <a:noFill/>
          <a:ln w="12700">
            <a:solidFill>
              <a:srgbClr val="D8D8D8"/>
            </a:solidFill>
            <a:prstDash val="solid"/>
          </a:ln>
        </p:spPr>
        <p:txBody>
          <a:bodyPr/>
          <a:lstStyle/>
          <a:p>
            <a:endParaRPr lang="en-US"/>
          </a:p>
        </p:txBody>
      </p:sp>
      <p:sp>
        <p:nvSpPr>
          <p:cNvPr id="10" name="Text 7"/>
          <p:cNvSpPr/>
          <p:nvPr/>
        </p:nvSpPr>
        <p:spPr>
          <a:xfrm>
            <a:off x="548640" y="5577840"/>
            <a:ext cx="11091672" cy="731520"/>
          </a:xfrm>
          <a:prstGeom prst="rect">
            <a:avLst/>
          </a:prstGeom>
          <a:noFill/>
          <a:ln/>
        </p:spPr>
        <p:txBody>
          <a:bodyPr wrap="square" lIns="0" tIns="0" rIns="0" bIns="0" rtlCol="0" anchor="ctr"/>
          <a:lstStyle/>
          <a:p>
            <a:pPr marL="0" indent="0">
              <a:lnSpc>
                <a:spcPts val="1500"/>
              </a:lnSpc>
              <a:buNone/>
            </a:pPr>
            <a:r>
              <a:rPr lang="en-US" sz="1100" dirty="0">
                <a:solidFill>
                  <a:srgbClr val="767676"/>
                </a:solidFill>
                <a:latin typeface="Calibri" pitchFamily="34" charset="0"/>
                <a:ea typeface="Calibri" pitchFamily="34" charset="-122"/>
                <a:cs typeface="Calibri" pitchFamily="34" charset="-120"/>
              </a:rPr>
              <a:t>Topics from LDA (K=5), selected on coherence and diversity by the topic modelling component; reproduced here to align assignments with sentiment scores. Two of the five are residual groupings without a coherent subject — General Discussions and News Reactions — so their figures reflect mixed content rather than attitude toward a theme.</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384048"/>
            <a:ext cx="11091672" cy="566928"/>
          </a:xfrm>
          <a:prstGeom prst="rect">
            <a:avLst/>
          </a:prstGeom>
          <a:noFill/>
          <a:ln/>
        </p:spPr>
        <p:txBody>
          <a:bodyPr wrap="square" lIns="0" tIns="0" rIns="0" bIns="0" rtlCol="0" anchor="ctr"/>
          <a:lstStyle/>
          <a:p>
            <a:pPr marL="0" indent="0">
              <a:buNone/>
            </a:pPr>
            <a:r>
              <a:rPr lang="en-US" sz="3000" b="1" dirty="0">
                <a:solidFill>
                  <a:srgbClr val="1A1A1A"/>
                </a:solidFill>
                <a:latin typeface="Cambria" pitchFamily="34" charset="0"/>
                <a:ea typeface="Cambria" pitchFamily="34" charset="-122"/>
                <a:cs typeface="Cambria" pitchFamily="34" charset="-120"/>
              </a:rPr>
              <a:t>What this answers</a:t>
            </a:r>
            <a:endParaRPr lang="en-US" sz="3000" dirty="0"/>
          </a:p>
        </p:txBody>
      </p:sp>
      <p:sp>
        <p:nvSpPr>
          <p:cNvPr id="3" name="Text 1"/>
          <p:cNvSpPr/>
          <p:nvPr/>
        </p:nvSpPr>
        <p:spPr>
          <a:xfrm>
            <a:off x="548640" y="950976"/>
            <a:ext cx="11091672" cy="310896"/>
          </a:xfrm>
          <a:prstGeom prst="rect">
            <a:avLst/>
          </a:prstGeom>
          <a:noFill/>
          <a:ln/>
        </p:spPr>
        <p:txBody>
          <a:bodyPr wrap="square" lIns="0" tIns="0" rIns="0" bIns="0" rtlCol="0" anchor="ctr"/>
          <a:lstStyle/>
          <a:p>
            <a:pPr marL="0" indent="0">
              <a:buNone/>
            </a:pPr>
            <a:r>
              <a:rPr lang="en-US" sz="1400" i="1" dirty="0">
                <a:solidFill>
                  <a:srgbClr val="767676"/>
                </a:solidFill>
                <a:latin typeface="Calibri" pitchFamily="34" charset="0"/>
                <a:ea typeface="Calibri" pitchFamily="34" charset="-122"/>
                <a:cs typeface="Calibri" pitchFamily="34" charset="-120"/>
              </a:rPr>
              <a:t>Two of the study's research questions</a:t>
            </a:r>
            <a:endParaRPr lang="en-US" sz="1400" dirty="0"/>
          </a:p>
        </p:txBody>
      </p:sp>
      <p:sp>
        <p:nvSpPr>
          <p:cNvPr id="4" name="Shape 2"/>
          <p:cNvSpPr/>
          <p:nvPr/>
        </p:nvSpPr>
        <p:spPr>
          <a:xfrm>
            <a:off x="548640" y="1481328"/>
            <a:ext cx="11091672" cy="1627632"/>
          </a:xfrm>
          <a:prstGeom prst="roundRect">
            <a:avLst>
              <a:gd name="adj" fmla="val 2247"/>
            </a:avLst>
          </a:prstGeom>
          <a:solidFill>
            <a:srgbClr val="F4F4F4"/>
          </a:solidFill>
          <a:ln w="9525">
            <a:solidFill>
              <a:srgbClr val="D8D8D8"/>
            </a:solidFill>
            <a:prstDash val="solid"/>
          </a:ln>
        </p:spPr>
        <p:txBody>
          <a:bodyPr/>
          <a:lstStyle/>
          <a:p>
            <a:endParaRPr lang="en-US"/>
          </a:p>
        </p:txBody>
      </p:sp>
      <p:sp>
        <p:nvSpPr>
          <p:cNvPr id="5" name="Text 3"/>
          <p:cNvSpPr/>
          <p:nvPr/>
        </p:nvSpPr>
        <p:spPr>
          <a:xfrm>
            <a:off x="868680" y="1664208"/>
            <a:ext cx="7772400" cy="347472"/>
          </a:xfrm>
          <a:prstGeom prst="rect">
            <a:avLst/>
          </a:prstGeom>
          <a:noFill/>
          <a:ln/>
        </p:spPr>
        <p:txBody>
          <a:bodyPr wrap="square" lIns="0" tIns="0" rIns="0" bIns="0" rtlCol="0" anchor="ctr"/>
          <a:lstStyle/>
          <a:p>
            <a:pPr marL="0" indent="0">
              <a:buNone/>
            </a:pPr>
            <a:r>
              <a:rPr lang="en-US" sz="1800" b="1" dirty="0">
                <a:solidFill>
                  <a:srgbClr val="1A1A1A"/>
                </a:solidFill>
                <a:latin typeface="Cambria" pitchFamily="34" charset="0"/>
                <a:ea typeface="Cambria" pitchFamily="34" charset="-122"/>
                <a:cs typeface="Cambria" pitchFamily="34" charset="-120"/>
              </a:rPr>
              <a:t>RQ2 — How do the themes differ in sentiment?</a:t>
            </a:r>
            <a:endParaRPr lang="en-US" sz="1800" dirty="0"/>
          </a:p>
        </p:txBody>
      </p:sp>
      <p:sp>
        <p:nvSpPr>
          <p:cNvPr id="6" name="Text 4"/>
          <p:cNvSpPr/>
          <p:nvPr/>
        </p:nvSpPr>
        <p:spPr>
          <a:xfrm>
            <a:off x="8778240" y="1682496"/>
            <a:ext cx="2560320" cy="310896"/>
          </a:xfrm>
          <a:prstGeom prst="rect">
            <a:avLst/>
          </a:prstGeom>
          <a:noFill/>
          <a:ln/>
        </p:spPr>
        <p:txBody>
          <a:bodyPr wrap="square" lIns="0" tIns="0" rIns="0" bIns="0" rtlCol="0" anchor="ctr"/>
          <a:lstStyle/>
          <a:p>
            <a:pPr marL="0" indent="0" algn="r">
              <a:buNone/>
            </a:pPr>
            <a:r>
              <a:rPr lang="en-US" sz="1400" b="1" dirty="0">
                <a:solidFill>
                  <a:srgbClr val="3B7A57"/>
                </a:solidFill>
                <a:latin typeface="Calibri" pitchFamily="34" charset="0"/>
                <a:ea typeface="Calibri" pitchFamily="34" charset="-122"/>
                <a:cs typeface="Calibri" pitchFamily="34" charset="-120"/>
              </a:rPr>
              <a:t>Answered</a:t>
            </a:r>
            <a:endParaRPr lang="en-US" sz="1400" dirty="0"/>
          </a:p>
        </p:txBody>
      </p:sp>
      <p:sp>
        <p:nvSpPr>
          <p:cNvPr id="7" name="Text 5"/>
          <p:cNvSpPr/>
          <p:nvPr/>
        </p:nvSpPr>
        <p:spPr>
          <a:xfrm>
            <a:off x="868680" y="2103120"/>
            <a:ext cx="10469880" cy="868680"/>
          </a:xfrm>
          <a:prstGeom prst="rect">
            <a:avLst/>
          </a:prstGeom>
          <a:noFill/>
          <a:ln/>
        </p:spPr>
        <p:txBody>
          <a:bodyPr wrap="square" lIns="0" tIns="0" rIns="0" bIns="0" rtlCol="0" anchor="ctr"/>
          <a:lstStyle/>
          <a:p>
            <a:pPr marL="0" indent="0">
              <a:lnSpc>
                <a:spcPts val="1900"/>
              </a:lnSpc>
              <a:buNone/>
            </a:pPr>
            <a:r>
              <a:rPr lang="en-US" sz="1400" dirty="0">
                <a:solidFill>
                  <a:srgbClr val="3D3D3D"/>
                </a:solidFill>
                <a:latin typeface="Calibri" pitchFamily="34" charset="0"/>
                <a:ea typeface="Calibri" pitchFamily="34" charset="-122"/>
                <a:cs typeface="Calibri" pitchFamily="34" charset="-120"/>
              </a:rPr>
              <a:t>Sentiment differs by 27.8 percentage points across the five themes. Politics (−49.9) and housing (−47.6) draw the sharpest criticism; neighbourhoods and daily life (−22.1) far less. The ranking is stable under every check applied.</a:t>
            </a:r>
            <a:endParaRPr lang="en-US" sz="1400" dirty="0"/>
          </a:p>
        </p:txBody>
      </p:sp>
      <p:sp>
        <p:nvSpPr>
          <p:cNvPr id="8" name="Shape 6"/>
          <p:cNvSpPr/>
          <p:nvPr/>
        </p:nvSpPr>
        <p:spPr>
          <a:xfrm>
            <a:off x="548640" y="3355848"/>
            <a:ext cx="11091672" cy="1627632"/>
          </a:xfrm>
          <a:prstGeom prst="roundRect">
            <a:avLst>
              <a:gd name="adj" fmla="val 2247"/>
            </a:avLst>
          </a:prstGeom>
          <a:solidFill>
            <a:srgbClr val="F4F4F4"/>
          </a:solidFill>
          <a:ln w="9525">
            <a:solidFill>
              <a:srgbClr val="D8D8D8"/>
            </a:solidFill>
            <a:prstDash val="solid"/>
          </a:ln>
        </p:spPr>
        <p:txBody>
          <a:bodyPr/>
          <a:lstStyle/>
          <a:p>
            <a:endParaRPr lang="en-US"/>
          </a:p>
        </p:txBody>
      </p:sp>
      <p:sp>
        <p:nvSpPr>
          <p:cNvPr id="9" name="Text 7"/>
          <p:cNvSpPr/>
          <p:nvPr/>
        </p:nvSpPr>
        <p:spPr>
          <a:xfrm>
            <a:off x="868680" y="3538728"/>
            <a:ext cx="7772400" cy="347472"/>
          </a:xfrm>
          <a:prstGeom prst="rect">
            <a:avLst/>
          </a:prstGeom>
          <a:noFill/>
          <a:ln/>
        </p:spPr>
        <p:txBody>
          <a:bodyPr wrap="square" lIns="0" tIns="0" rIns="0" bIns="0" rtlCol="0" anchor="ctr"/>
          <a:lstStyle/>
          <a:p>
            <a:pPr marL="0" indent="0">
              <a:buNone/>
            </a:pPr>
            <a:r>
              <a:rPr lang="en-US" sz="1800" b="1" dirty="0">
                <a:solidFill>
                  <a:srgbClr val="1A1A1A"/>
                </a:solidFill>
                <a:latin typeface="Cambria" pitchFamily="34" charset="0"/>
                <a:ea typeface="Cambria" pitchFamily="34" charset="-122"/>
                <a:cs typeface="Cambria" pitchFamily="34" charset="-120"/>
              </a:rPr>
              <a:t>RQ4 — Are the most negative themes also the most engaged?</a:t>
            </a:r>
            <a:endParaRPr lang="en-US" sz="1800" dirty="0"/>
          </a:p>
        </p:txBody>
      </p:sp>
      <p:sp>
        <p:nvSpPr>
          <p:cNvPr id="10" name="Text 8"/>
          <p:cNvSpPr/>
          <p:nvPr/>
        </p:nvSpPr>
        <p:spPr>
          <a:xfrm>
            <a:off x="8778240" y="3557016"/>
            <a:ext cx="2560320" cy="310896"/>
          </a:xfrm>
          <a:prstGeom prst="rect">
            <a:avLst/>
          </a:prstGeom>
          <a:noFill/>
          <a:ln/>
        </p:spPr>
        <p:txBody>
          <a:bodyPr wrap="square" lIns="0" tIns="0" rIns="0" bIns="0" rtlCol="0" anchor="ctr"/>
          <a:lstStyle/>
          <a:p>
            <a:pPr marL="0" indent="0" algn="r">
              <a:buNone/>
            </a:pPr>
            <a:r>
              <a:rPr lang="en-US" sz="1400" b="1" dirty="0">
                <a:solidFill>
                  <a:srgbClr val="B23B3B"/>
                </a:solidFill>
                <a:latin typeface="Calibri" pitchFamily="34" charset="0"/>
                <a:ea typeface="Calibri" pitchFamily="34" charset="-122"/>
                <a:cs typeface="Calibri" pitchFamily="34" charset="-120"/>
              </a:rPr>
              <a:t>Not supported</a:t>
            </a:r>
            <a:endParaRPr lang="en-US" sz="1400" dirty="0"/>
          </a:p>
        </p:txBody>
      </p:sp>
      <p:sp>
        <p:nvSpPr>
          <p:cNvPr id="11" name="Text 9"/>
          <p:cNvSpPr/>
          <p:nvPr/>
        </p:nvSpPr>
        <p:spPr>
          <a:xfrm>
            <a:off x="868680" y="3977640"/>
            <a:ext cx="10469880" cy="868680"/>
          </a:xfrm>
          <a:prstGeom prst="rect">
            <a:avLst/>
          </a:prstGeom>
          <a:noFill/>
          <a:ln/>
        </p:spPr>
        <p:txBody>
          <a:bodyPr wrap="square" lIns="0" tIns="0" rIns="0" bIns="0" rtlCol="0" anchor="ctr"/>
          <a:lstStyle/>
          <a:p>
            <a:pPr marL="0" indent="0">
              <a:lnSpc>
                <a:spcPts val="1900"/>
              </a:lnSpc>
              <a:buNone/>
            </a:pPr>
            <a:r>
              <a:rPr lang="en-US" sz="1400" dirty="0">
                <a:solidFill>
                  <a:srgbClr val="3D3D3D"/>
                </a:solidFill>
                <a:latin typeface="Calibri" pitchFamily="34" charset="0"/>
                <a:ea typeface="Calibri" pitchFamily="34" charset="-122"/>
                <a:cs typeface="Calibri" pitchFamily="34" charset="-120"/>
              </a:rPr>
              <a:t>Politics is the most negative theme but only third by volume; neighbourhoods is the least negative yet second largest. Volume appears to track how central a theme is to daily life, not how negatively it is discussed.</a:t>
            </a:r>
            <a:endParaRPr lang="en-US" sz="1400" dirty="0"/>
          </a:p>
        </p:txBody>
      </p:sp>
      <p:sp>
        <p:nvSpPr>
          <p:cNvPr id="12" name="Shape 10"/>
          <p:cNvSpPr/>
          <p:nvPr/>
        </p:nvSpPr>
        <p:spPr>
          <a:xfrm>
            <a:off x="548640" y="5349240"/>
            <a:ext cx="11091672" cy="960120"/>
          </a:xfrm>
          <a:prstGeom prst="roundRect">
            <a:avLst>
              <a:gd name="adj" fmla="val 3810"/>
            </a:avLst>
          </a:prstGeom>
          <a:solidFill>
            <a:srgbClr val="1A1A1A"/>
          </a:solidFill>
          <a:ln/>
        </p:spPr>
        <p:txBody>
          <a:bodyPr/>
          <a:lstStyle/>
          <a:p>
            <a:endParaRPr lang="en-US"/>
          </a:p>
        </p:txBody>
      </p:sp>
      <p:sp>
        <p:nvSpPr>
          <p:cNvPr id="13" name="Text 11"/>
          <p:cNvSpPr/>
          <p:nvPr/>
        </p:nvSpPr>
        <p:spPr>
          <a:xfrm>
            <a:off x="914400" y="5532120"/>
            <a:ext cx="10360152" cy="640080"/>
          </a:xfrm>
          <a:prstGeom prst="rect">
            <a:avLst/>
          </a:prstGeom>
          <a:noFill/>
          <a:ln/>
        </p:spPr>
        <p:txBody>
          <a:bodyPr wrap="square" lIns="0" tIns="0" rIns="0" bIns="0" rtlCol="0" anchor="ctr"/>
          <a:lstStyle/>
          <a:p>
            <a:pPr marL="0" indent="0">
              <a:lnSpc>
                <a:spcPts val="2200"/>
              </a:lnSpc>
              <a:buNone/>
            </a:pPr>
            <a:r>
              <a:rPr lang="en-US" sz="1700" b="1" dirty="0">
                <a:solidFill>
                  <a:srgbClr val="FFFFFF"/>
                </a:solidFill>
                <a:latin typeface="Cambria" pitchFamily="34" charset="0"/>
                <a:ea typeface="Cambria" pitchFamily="34" charset="-122"/>
                <a:cs typeface="Cambria" pitchFamily="34" charset="-120"/>
              </a:rPr>
              <a:t>Four methods on identical text disagreed by forty points on how negative this community is — which is why the model had to be chosen on evidence, not convenience.</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43</TotalTime>
  <Words>3052</Words>
  <Application>Microsoft Office PowerPoint</Application>
  <PresentationFormat>Widescreen</PresentationFormat>
  <Paragraphs>181</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Adam Adrian Y. Chua</cp:lastModifiedBy>
  <cp:revision>8</cp:revision>
  <dcterms:created xsi:type="dcterms:W3CDTF">2026-08-01T17:42:04Z</dcterms:created>
  <dcterms:modified xsi:type="dcterms:W3CDTF">2026-08-03T05:11:15Z</dcterms:modified>
</cp:coreProperties>
</file>